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3685032" cy="9144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35440" y="914400"/>
            <a:ext cx="2953512" cy="201168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49840" y="1115568"/>
            <a:ext cx="2039112" cy="201168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6309360"/>
            <a:ext cx="3319272" cy="54864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77724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87DCD7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8138160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Loan Approval Prediction</a:t>
            </a:r>
          </a:p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Using Ensemble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2237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CDE0F2"/>
                </a:solidFill>
                <a:latin typeface="Aptos"/>
              </a:defRPr>
            </a:pPr>
            <a:r>
              <a:t>Random Forest  •  XGBoost  •  LightGBM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7498079" cy="1143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S. Koushik — 2520090113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Ch. Ganesh — 2520090112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758952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DCE6F2"/>
                </a:solidFill>
                <a:latin typeface="Aptos"/>
              </a:defRPr>
            </a:pPr>
            <a:r>
              <a:t>Guide: Dr. Y. Lakshmi Prasanna</a:t>
            </a:r>
          </a:p>
          <a:p>
            <a:pPr>
              <a:spcAft>
                <a:spcPts val="600"/>
              </a:spcAft>
              <a:defRPr sz="1200" b="0">
                <a:solidFill>
                  <a:srgbClr val="DCE6F2"/>
                </a:solidFill>
                <a:latin typeface="Aptos"/>
              </a:defRPr>
            </a:pPr>
            <a:r>
              <a:t>Department of CS&amp;IT  |  KLH University, Bachupally Campus</a:t>
            </a:r>
          </a:p>
          <a:p>
            <a:pPr>
              <a:spcAft>
                <a:spcPts val="600"/>
              </a:spcAft>
              <a:defRPr sz="1200" b="0">
                <a:solidFill>
                  <a:srgbClr val="DCE6F2"/>
                </a:solidFill>
                <a:latin typeface="Aptos"/>
              </a:defRPr>
            </a:pPr>
            <a:r>
              <a:t>Academic Year: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5486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0B4C8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01 • DOMAIN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520440" cy="182880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73152" cy="18288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90472"/>
            <a:ext cx="322783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THE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38528"/>
            <a:ext cx="3209544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Loan approval is a classification problem: use applicant and financial attributes to estimate whether a loan application is approved or rejected.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520440" cy="182880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73152" cy="182880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90472"/>
            <a:ext cx="322783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38528"/>
            <a:ext cx="3209544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Lenders need consistent, timely screening while considering repayment capacity, credit history, income and loan characteristics.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371600"/>
            <a:ext cx="3520440" cy="182880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371600"/>
            <a:ext cx="73152" cy="1828800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490472"/>
            <a:ext cx="322783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PROJECT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1938528"/>
            <a:ext cx="3209544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Explore the supplied loan dataset and develop a model-comparison pipeline using ensemble learning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10607040" cy="182880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The target variable in the supplied data is Loan_Status (Approved / Rejected).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The experiment files first focus on data understanding and exploratory data analysis (EDA).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02 • 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Loan applications contain mixed numerical and categorical attributes, and some fields have missing values.</a:t>
            </a:r>
          </a:p>
          <a:p>
            <a:pPr>
              <a:spcAft>
                <a:spcPts val="9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Manual assessment can be time-consuming and may produce inconsistent decisions across large application volumes.</a:t>
            </a:r>
          </a:p>
          <a:p>
            <a:pPr>
              <a:spcAft>
                <a:spcPts val="9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A predictive workflow must prepare the data carefully and evaluate model performance instead of relying on assumptions.</a:t>
            </a:r>
          </a:p>
          <a:p>
            <a:pPr>
              <a:spcAft>
                <a:spcPts val="9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Stakeholders affected: applicants, loan officers, risk teams and financial institutions.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03 • WHY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74720" cy="214884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214884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36192"/>
            <a:ext cx="31821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REAL-WORLD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84248"/>
            <a:ext cx="316382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Loan screening is a practical decision-support use case where structured data can support more consistent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74720" cy="214884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417320"/>
            <a:ext cx="73152" cy="214884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536192"/>
            <a:ext cx="31821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TECHNICAL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984248"/>
            <a:ext cx="316382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The project combines data inspection, missing-value analysis, EDA, feature preparation and supervised classification.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17320"/>
            <a:ext cx="3474720" cy="214884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417320"/>
            <a:ext cx="73152" cy="2148840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536192"/>
            <a:ext cx="31821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MODEL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1984248"/>
            <a:ext cx="316382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Random Forest, XGBoost and LightGBM provide three ensemble approaches to compare on the same task.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1042416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2233E"/>
                </a:solidFill>
                <a:latin typeface="Aptos"/>
              </a:defRPr>
            </a:pPr>
            <a:r>
              <a:t>The goal is decision support—not automatic approval without human review, validation and fairness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04 • PROJECT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78992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Understand the dataset structure, data types, target labels and data quality.</a:t>
            </a:r>
          </a:p>
          <a:p>
            <a:pPr>
              <a:spcAft>
                <a:spcPts val="9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Explore missing values, duplicates, distributions, relationships and potential outliers.</a:t>
            </a:r>
          </a:p>
          <a:p>
            <a:pPr>
              <a:spcAft>
                <a:spcPts val="9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Prepare the data for classification, including target/feature separation and train–test splitting.</a:t>
            </a:r>
          </a:p>
          <a:p>
            <a:pPr>
              <a:spcAft>
                <a:spcPts val="9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Compare Random Forest, XGBoost and LightGBM using consistent evaluation metrics.</a:t>
            </a:r>
          </a:p>
          <a:p>
            <a:pPr>
              <a:spcAft>
                <a:spcPts val="9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Present results and key factors in a clear, interpretable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05 • BASELINE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219456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219456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90472"/>
            <a:ext cx="31821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MANUAL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38528"/>
            <a:ext cx="3163824" cy="1536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Officers examine income, credit, employment, liabilities and supporting documents.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74720" cy="219456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71600"/>
            <a:ext cx="73152" cy="2194560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490472"/>
            <a:ext cx="31821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RULE-BASED SCREENING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938528"/>
            <a:ext cx="3163824" cy="1536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Fixed thresholds and policies can be useful, but may not capture complex interactions among variables.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371600"/>
            <a:ext cx="3474720" cy="219456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371600"/>
            <a:ext cx="73152" cy="219456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490472"/>
            <a:ext cx="31821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KEY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1938528"/>
            <a:ext cx="3163824" cy="1536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High review effort, inconsistent edge-case handling and limited ability to learn patterns from historical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103327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F6C7C"/>
                </a:solidFill>
                <a:latin typeface="Aptos"/>
              </a:defRPr>
            </a:pPr>
            <a:r>
              <a:t>This presentation treats these as general baseline approaches; the supplied notebooks do not document a specific deployed legacy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06 • 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78992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Use the supplied 20,000-record dataset as the starting point for analysis.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Inspect and clean data; handle missing values and exclude identifier fields from predictive inputs.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Train candidate ensemble classifiers on a consistent split and compare their metrics.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Generate an approval/rejection prediction with supporting evaluation and feature-importance analysis.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Keep the system as decision support with human oversight, fairness checks and documented limitations.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System Architecture /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07 • DATA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11680"/>
            <a:ext cx="1828800" cy="914400"/>
          </a:xfrm>
          <a:prstGeom prst="roundRect">
            <a:avLst/>
          </a:prstGeom>
          <a:solidFill>
            <a:srgbClr val="DCE9F7"/>
          </a:solidFill>
          <a:ln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33E"/>
                </a:solidFill>
                <a:latin typeface="Aptos"/>
              </a:defRPr>
            </a:pPr>
            <a:r>
              <a:t>Loan dataset</a:t>
            </a:r>
            <a:br/>
            <a:r>
              <a:t>(CSV)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011680"/>
            <a:ext cx="1828800" cy="914400"/>
          </a:xfrm>
          <a:prstGeom prst="roundRect">
            <a:avLst/>
          </a:prstGeom>
          <a:solidFill>
            <a:srgbClr val="DDF2EE"/>
          </a:solidFill>
          <a:ln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33E"/>
                </a:solidFill>
                <a:latin typeface="Aptos"/>
              </a:defRPr>
            </a:pPr>
            <a:r>
              <a:t>Data audit</a:t>
            </a:r>
            <a:br/>
            <a:r>
              <a:t>&amp; EDA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011680"/>
            <a:ext cx="1828800" cy="914400"/>
          </a:xfrm>
          <a:prstGeom prst="roundRect">
            <a:avLst/>
          </a:prstGeom>
          <a:solidFill>
            <a:srgbClr val="FFF1D7"/>
          </a:solidFill>
          <a:ln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33E"/>
                </a:solidFill>
                <a:latin typeface="Aptos"/>
              </a:defRPr>
            </a:pPr>
            <a:r>
              <a:t>Preprocessing</a:t>
            </a:r>
            <a:br/>
            <a:r>
              <a:t>&amp; encoding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2011680"/>
            <a:ext cx="1828800" cy="914400"/>
          </a:xfrm>
          <a:prstGeom prst="roundRect">
            <a:avLst/>
          </a:prstGeom>
          <a:solidFill>
            <a:srgbClr val="E4E2F8"/>
          </a:solidFill>
          <a:ln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33E"/>
                </a:solidFill>
                <a:latin typeface="Aptos"/>
              </a:defRPr>
            </a:pPr>
            <a:r>
              <a:t>Ensemble models</a:t>
            </a:r>
            <a:br/>
            <a:r>
              <a:t>RF / XGB / LGBM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2011680"/>
            <a:ext cx="2423160" cy="914400"/>
          </a:xfrm>
          <a:prstGeom prst="roundRect">
            <a:avLst/>
          </a:prstGeom>
          <a:solidFill>
            <a:srgbClr val="DCF0E2"/>
          </a:solidFill>
          <a:ln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33E"/>
                </a:solidFill>
                <a:latin typeface="Aptos"/>
              </a:defRPr>
            </a:pPr>
            <a:r>
              <a:t>Evaluation &amp; output</a:t>
            </a:r>
            <a:br/>
            <a:r>
              <a:t>metrics / prediction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2468880"/>
            <a:ext cx="365760" cy="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34840" y="2468880"/>
            <a:ext cx="365760" cy="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29400" y="2468880"/>
            <a:ext cx="365760" cy="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23960" y="2468880"/>
            <a:ext cx="365760" cy="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3840480"/>
            <a:ext cx="1060704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2233E"/>
                </a:solidFill>
                <a:latin typeface="Aptos"/>
              </a:defRPr>
            </a:pPr>
            <a:r>
              <a:t>Inputs: applicant profile, income, liabilities, credit and loan details.  |  Output: predicted class and measured model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5F6C7C"/>
                </a:solidFill>
                <a:latin typeface="Aptos"/>
              </a:defRPr>
            </a:pPr>
            <a:r>
              <a:t>The supplied experiment notebooks establish data understanding and EDA; training/evaluation stages are the intended model-development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Methodology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08 • STEP-BY-STEP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487168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73152" cy="1143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27631"/>
            <a:ext cx="21945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1  Load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75688"/>
            <a:ext cx="2176272" cy="4846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</a:p>
        </p:txBody>
      </p:sp>
      <p:cxnSp>
        <p:nvCxnSpPr>
          <p:cNvPr id="11" name="Connector 10"/>
          <p:cNvCxnSpPr/>
          <p:nvPr/>
        </p:nvCxnSpPr>
        <p:spPr>
          <a:xfrm>
            <a:off x="3090672" y="2075688"/>
            <a:ext cx="301752" cy="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02152" y="1508760"/>
            <a:ext cx="2487168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508760"/>
            <a:ext cx="73152" cy="114300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1627631"/>
            <a:ext cx="21945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2  Inspect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075688"/>
            <a:ext cx="2176272" cy="4846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</a:p>
        </p:txBody>
      </p:sp>
      <p:cxnSp>
        <p:nvCxnSpPr>
          <p:cNvPr id="16" name="Connector 15"/>
          <p:cNvCxnSpPr/>
          <p:nvPr/>
        </p:nvCxnSpPr>
        <p:spPr>
          <a:xfrm>
            <a:off x="5998464" y="2075688"/>
            <a:ext cx="301752" cy="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9944" y="1508760"/>
            <a:ext cx="2487168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9944" y="1508760"/>
            <a:ext cx="73152" cy="1143000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1627631"/>
            <a:ext cx="21945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3  Analyze missingness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2075688"/>
            <a:ext cx="2176272" cy="4846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</a:p>
        </p:txBody>
      </p:sp>
      <p:cxnSp>
        <p:nvCxnSpPr>
          <p:cNvPr id="21" name="Connector 20"/>
          <p:cNvCxnSpPr/>
          <p:nvPr/>
        </p:nvCxnSpPr>
        <p:spPr>
          <a:xfrm>
            <a:off x="8906256" y="2075688"/>
            <a:ext cx="301752" cy="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17736" y="1508760"/>
            <a:ext cx="2487168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17736" y="1508760"/>
            <a:ext cx="73152" cy="114300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1627631"/>
            <a:ext cx="21945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4  Explore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2075688"/>
            <a:ext cx="2176272" cy="4846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594360" y="3474720"/>
            <a:ext cx="2487168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474720"/>
            <a:ext cx="73152" cy="1143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593591"/>
            <a:ext cx="21945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5  Preprocess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041648"/>
            <a:ext cx="2176272" cy="4846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</a:p>
        </p:txBody>
      </p:sp>
      <p:cxnSp>
        <p:nvCxnSpPr>
          <p:cNvPr id="30" name="Connector 29"/>
          <p:cNvCxnSpPr/>
          <p:nvPr/>
        </p:nvCxnSpPr>
        <p:spPr>
          <a:xfrm>
            <a:off x="3090672" y="4041648"/>
            <a:ext cx="301752" cy="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502152" y="3474720"/>
            <a:ext cx="2487168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2152" y="3474720"/>
            <a:ext cx="73152" cy="114300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66744" y="3593591"/>
            <a:ext cx="21945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6  Split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6744" y="4041648"/>
            <a:ext cx="2176272" cy="4846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</a:p>
        </p:txBody>
      </p:sp>
      <p:cxnSp>
        <p:nvCxnSpPr>
          <p:cNvPr id="35" name="Connector 34"/>
          <p:cNvCxnSpPr/>
          <p:nvPr/>
        </p:nvCxnSpPr>
        <p:spPr>
          <a:xfrm>
            <a:off x="5998464" y="4041648"/>
            <a:ext cx="301752" cy="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409944" y="3474720"/>
            <a:ext cx="2487168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9944" y="3474720"/>
            <a:ext cx="73152" cy="1143000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74536" y="3593591"/>
            <a:ext cx="21945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7  Train models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4536" y="4041648"/>
            <a:ext cx="2176272" cy="4846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</a:p>
        </p:txBody>
      </p:sp>
      <p:cxnSp>
        <p:nvCxnSpPr>
          <p:cNvPr id="40" name="Connector 39"/>
          <p:cNvCxnSpPr/>
          <p:nvPr/>
        </p:nvCxnSpPr>
        <p:spPr>
          <a:xfrm>
            <a:off x="8906256" y="4041648"/>
            <a:ext cx="301752" cy="0"/>
          </a:xfrm>
          <a:prstGeom prst="line">
            <a:avLst/>
          </a:prstGeom>
          <a:ln w="254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317736" y="3474720"/>
            <a:ext cx="2487168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17736" y="3474720"/>
            <a:ext cx="73152" cy="114300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82328" y="3593591"/>
            <a:ext cx="21945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8  Evaluate &amp; compare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82328" y="4041648"/>
            <a:ext cx="2176272" cy="4846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F6C7C"/>
                </a:solidFill>
                <a:latin typeface="Aptos"/>
              </a:defRPr>
            </a:pPr>
            <a:r>
              <a:t>Repeat with the same split and metric definitions to make model comparison fair.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09 • TOOLS AND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3756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141732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36192"/>
            <a:ext cx="304495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84248"/>
            <a:ext cx="3026664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17320"/>
            <a:ext cx="333756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417320"/>
            <a:ext cx="73152" cy="141732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536192"/>
            <a:ext cx="304495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Data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1984248"/>
            <a:ext cx="3026664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Pandas, NumPy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33756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73152" cy="1417320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536192"/>
            <a:ext cx="304495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ML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984248"/>
            <a:ext cx="3026664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83280"/>
            <a:ext cx="333756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73152" cy="141732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502152"/>
            <a:ext cx="304495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Boosting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950208"/>
            <a:ext cx="3026664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XGBoost, LightGBM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383280"/>
            <a:ext cx="333756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383280"/>
            <a:ext cx="73152" cy="141732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1" y="3502152"/>
            <a:ext cx="304495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1" y="3950208"/>
            <a:ext cx="3026664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Matplotlib, Seaborn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383280"/>
            <a:ext cx="333756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383280"/>
            <a:ext cx="73152" cy="1417320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3502152"/>
            <a:ext cx="304495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950208"/>
            <a:ext cx="3026664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Jupyter Notebook / Google Colab / VS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669280"/>
            <a:ext cx="104241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C"/>
                </a:solidFill>
                <a:latin typeface="Aptos"/>
              </a:defRPr>
            </a:pPr>
            <a:r>
              <a:t>Database/cloud deployment is not established in the supplied experiment notebooks.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System Modules /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10 • FUNCTIONAL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56432" cy="178308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178308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44752"/>
            <a:ext cx="316382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Data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92807"/>
            <a:ext cx="3145536" cy="11247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Load the CSV and verify shape, columns and types.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325880"/>
            <a:ext cx="3456432" cy="178308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1325880"/>
            <a:ext cx="73152" cy="178308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3" y="1444752"/>
            <a:ext cx="316382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3" y="1892807"/>
            <a:ext cx="3145536" cy="11247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Check nulls, duplicates and inconsistent labels.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1325880"/>
            <a:ext cx="3456432" cy="178308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0183" y="1325880"/>
            <a:ext cx="73152" cy="1783080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1444752"/>
            <a:ext cx="316382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1892807"/>
            <a:ext cx="3145536" cy="11247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Study distributions, approval rates, correlations and outliers.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66160"/>
            <a:ext cx="3456432" cy="178308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66160"/>
            <a:ext cx="73152" cy="178308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685032"/>
            <a:ext cx="316382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133088"/>
            <a:ext cx="3145536" cy="11247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Impute missing values, encode categories and scale if required by model.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2" y="3566160"/>
            <a:ext cx="3456432" cy="178308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07992" y="3566160"/>
            <a:ext cx="73152" cy="178308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2583" y="3685032"/>
            <a:ext cx="316382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2583" y="4133088"/>
            <a:ext cx="3145536" cy="11247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Fit Random Forest, XGBoost and LightGBM.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0183" y="3566160"/>
            <a:ext cx="3456432" cy="178308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30183" y="3566160"/>
            <a:ext cx="73152" cy="178308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4776" y="3685032"/>
            <a:ext cx="316382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E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94776" y="4133088"/>
            <a:ext cx="3145536" cy="11247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Compare accuracy, precision, recall, F1-score and confusion matrices.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11 • PRACTICAL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78992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Load the dataset using Pandas and inspect shape, columns, data types and summary statistics.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Calculate missing-value counts and percentages; check duplicate rows and the target distribution.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Use EDA plots to inspect numeric distributions, categorical approval rates, correlations and outliers.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Prepare a preprocessing pipeline so imputing/encoding is learned from training data only.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Train and evaluate each model on the same held-out test set; record results in a comparison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9691"/>
                </a:solidFill>
                <a:latin typeface="Aptos"/>
              </a:defRPr>
            </a:pPr>
            <a:r>
              <a:t>Implementation status reflected by supplied notebooks: Experiment 1 = data understanding; Experiment 2 = EDA.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Dataset / Input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12 • SUPPLIED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27432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141732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44752"/>
            <a:ext cx="245059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92807"/>
            <a:ext cx="2432304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6303E"/>
                </a:solidFill>
                <a:latin typeface="Aptos"/>
              </a:defRPr>
            </a:pPr>
            <a:r>
              <a:t>20,000 loan 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325880"/>
            <a:ext cx="27432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325880"/>
            <a:ext cx="73152" cy="141732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1444752"/>
            <a:ext cx="245059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892807"/>
            <a:ext cx="2432304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6303E"/>
                </a:solidFill>
                <a:latin typeface="Aptos"/>
              </a:defRPr>
            </a:pPr>
            <a:r>
              <a:t>39 total 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325880"/>
            <a:ext cx="48006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1325880"/>
            <a:ext cx="73152" cy="1417320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1444752"/>
            <a:ext cx="450799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1892807"/>
            <a:ext cx="4489704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6303E"/>
                </a:solidFill>
                <a:latin typeface="Aptos"/>
              </a:defRPr>
            </a:pPr>
            <a:r>
              <a:t>Loan_Status: Approved / 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53035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2233E"/>
                </a:solidFill>
                <a:latin typeface="Aptos"/>
              </a:defRPr>
            </a:pPr>
            <a:r>
              <a:t>Representative input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11880"/>
            <a:ext cx="5303520" cy="1325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Age • Monthly_Income • Annual_Income</a:t>
            </a:r>
          </a:p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Credit_Score • Existing_Loans • Monthly_EMI</a:t>
            </a:r>
          </a:p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Loan_Amount • Loan_Tenure • Interest_Rate</a:t>
            </a:r>
          </a:p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Employment_Type • Education • Loan_Purpose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154680"/>
            <a:ext cx="5029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2233E"/>
                </a:solidFill>
                <a:latin typeface="Aptos"/>
              </a:defRPr>
            </a:pPr>
            <a:r>
              <a:t>Data quality observations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611880"/>
            <a:ext cx="4983480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Duplicate rows: 0</a:t>
            </a:r>
          </a:p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Fields with missing values: 9</a:t>
            </a:r>
          </a:p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Examples: Property_Value, Loan_to_Value, Collateral_Value, Other_Income, Investments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69280"/>
            <a:ext cx="10607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E4B4B"/>
                </a:solidFill>
                <a:latin typeface="Aptos"/>
              </a:defRPr>
            </a:pPr>
            <a:r>
              <a:t>Application_ID is an identifier and should not be used as a predictive feature.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Algorithm /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13 • ENSEMBLE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520440" cy="246888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73152" cy="246888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90472"/>
            <a:ext cx="322783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38528"/>
            <a:ext cx="3209544" cy="1810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Combines many decision trees trained on bootstrapped samples; averages/votes to improve robustness and reduce variance.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520440" cy="246888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73152" cy="246888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90472"/>
            <a:ext cx="322783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38528"/>
            <a:ext cx="3209544" cy="1810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Gradient-boosted trees optimize a loss function sequentially and include regularization for predictive performance.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371600"/>
            <a:ext cx="3520440" cy="246888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371600"/>
            <a:ext cx="73152" cy="2468880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490472"/>
            <a:ext cx="322783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LIGHTGBM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1938528"/>
            <a:ext cx="3209544" cy="1810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Gradient boosting designed for efficient training on tabular data using histogram-based learning and leaf-wise tree growth.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1042416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2233E"/>
                </a:solidFill>
                <a:latin typeface="Aptos"/>
              </a:defRPr>
            </a:pPr>
            <a:r>
              <a:t>Why compare them? All are tree-ensemble methods, but they learn patterns differently. The best model must be selected from measured validation/test results—not assumed in advance.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14 • EVIDENCE AND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192024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92024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90472"/>
            <a:ext cx="31821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38528"/>
            <a:ext cx="3163824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20,000 records • 39 columns • target: Loan_Status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74720" cy="192024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71600"/>
            <a:ext cx="73152" cy="192024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490472"/>
            <a:ext cx="31821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938528"/>
            <a:ext cx="3163824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E"/>
                </a:solidFill>
                <a:latin typeface="Aptos"/>
              </a:defRPr>
            </a:pPr>
            <a:r>
              <a:t>9 columns have missing values; duplicate rows: 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371600"/>
            <a:ext cx="3474720" cy="192024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371600"/>
            <a:ext cx="73152" cy="1920240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490472"/>
            <a:ext cx="31821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MODEL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1938528"/>
            <a:ext cx="3163824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Accuracy, precision, recall, F1-score and confusion matrix should be reported after model evaluation.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1042416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BE4B4B"/>
                </a:solidFill>
                <a:latin typeface="Aptos"/>
              </a:defRPr>
            </a:pPr>
            <a:r>
              <a:t>The uploaded notebooks contain data understanding and EDA. They do not provide trained-model metrics, so no accuracy or winning model is claimed in this presentation.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578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F6C7C"/>
                </a:solidFill>
                <a:latin typeface="Aptos"/>
              </a:defRPr>
            </a:pPr>
            <a:r>
              <a:t>Recommended comparison: evaluate all three models on the same held-out test set.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Screenshots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15 • EXPERIMENT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66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233E"/>
                </a:solidFill>
                <a:latin typeface="Aptos"/>
              </a:defRPr>
            </a:pPr>
            <a:r>
              <a:t>Loan status distribution</a:t>
            </a:r>
          </a:p>
        </p:txBody>
      </p:sp>
      <p:pic>
        <p:nvPicPr>
          <p:cNvPr id="8" name="Picture 7" descr="loan_statu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19"/>
            <a:ext cx="5074920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1325880"/>
            <a:ext cx="5166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233E"/>
                </a:solidFill>
                <a:latin typeface="Aptos"/>
              </a:defRPr>
            </a:pPr>
            <a:r>
              <a:t>Missing values</a:t>
            </a:r>
          </a:p>
        </p:txBody>
      </p:sp>
      <p:pic>
        <p:nvPicPr>
          <p:cNvPr id="10" name="Picture 9" descr="missing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19"/>
            <a:ext cx="5074920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657600"/>
            <a:ext cx="5166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233E"/>
                </a:solidFill>
                <a:latin typeface="Aptos"/>
              </a:defRPr>
            </a:pPr>
            <a:r>
              <a:t>Numerical distributions</a:t>
            </a:r>
          </a:p>
        </p:txBody>
      </p:sp>
      <p:pic>
        <p:nvPicPr>
          <p:cNvPr id="12" name="Picture 11" descr="numeric_distribu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77639"/>
            <a:ext cx="5074920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3657600"/>
            <a:ext cx="5166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233E"/>
                </a:solidFill>
                <a:latin typeface="Aptos"/>
              </a:defRPr>
            </a:pPr>
            <a:r>
              <a:t>Approval by employment</a:t>
            </a:r>
          </a:p>
        </p:txBody>
      </p:sp>
      <p:pic>
        <p:nvPicPr>
          <p:cNvPr id="14" name="Picture 13" descr="employment_approv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77639"/>
            <a:ext cx="507492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16 •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78992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Repeatable workflow for inspecting and preparing loan application data.</a:t>
            </a:r>
          </a:p>
          <a:p>
            <a:pPr>
              <a:spcAft>
                <a:spcPts val="9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EDA helps identify missingness, skewed distributions, relationships and potential outliers before modelling.</a:t>
            </a:r>
          </a:p>
          <a:p>
            <a:pPr>
              <a:spcAft>
                <a:spcPts val="9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Comparing multiple ensemble methods can reveal trade-offs in predictive performance.</a:t>
            </a:r>
          </a:p>
          <a:p>
            <a:pPr>
              <a:spcAft>
                <a:spcPts val="9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Evaluation metrics provide a more complete picture than accuracy alone, especially if target classes are imbalanced.</a:t>
            </a:r>
          </a:p>
          <a:p>
            <a:pPr>
              <a:spcAft>
                <a:spcPts val="9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Can support human reviewers by prioritizing applications for further assessment.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17 • POTENTIAL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73152" cy="201168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81912"/>
            <a:ext cx="31821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BANKS &amp; NBFCs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29968"/>
            <a:ext cx="3163824" cy="1353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Decision support for personal, consumer or other retail loan applications.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63040"/>
            <a:ext cx="3474720" cy="201168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463040"/>
            <a:ext cx="73152" cy="201168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581912"/>
            <a:ext cx="31821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RISK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029968"/>
            <a:ext cx="3163824" cy="1353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Explore applicant risk patterns and investigate factors associated with historical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63040"/>
            <a:ext cx="3474720" cy="2011680"/>
          </a:xfrm>
          <a:prstGeom prst="roundRect">
            <a:avLst/>
          </a:prstGeom>
          <a:solidFill>
            <a:srgbClr val="F0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463040"/>
            <a:ext cx="73152" cy="2011680"/>
          </a:xfrm>
          <a:prstGeom prst="rect">
            <a:avLst/>
          </a:prstGeom>
          <a:solidFill>
            <a:srgbClr val="ECA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581912"/>
            <a:ext cx="31821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E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029968"/>
            <a:ext cx="3163824" cy="1353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t>Assist triage and prioritize applications for manual review, subject to policy and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103327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BE4B4B"/>
                </a:solidFill>
                <a:latin typeface="Aptos"/>
              </a:defRPr>
            </a:pPr>
            <a:r>
              <a:t>Any real-world deployment requires privacy safeguards, fairness testing, regulatory review and a human appeal path.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18 • CURRENT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78992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The provided notebooks document data understanding and EDA; model-training and evaluation results are not included.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Missing values require a documented, leakage-safe preprocessing strategy.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Historical loan decisions can contain bias and may not represent future applicants.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Accuracy alone may hide poor recall for one class; several metrics and subgroup checks are needed.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Predictions do not explain every decision and must not replace responsible lending review.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19 • NEXT DEVELOPMENT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78992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Complete preprocessing, train/test split and model training for Random Forest, XGBoost and LightGBM.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Use cross-validation and hyperparameter tuning, then compare metrics on a held-out test set.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Add confusion matrices, ROC-AUC/PR-AUC and feature-importance or SHAP explanations.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Perform fairness and subgroup analysis; document privacy and governance controls.</a:t>
            </a:r>
          </a:p>
          <a:p>
            <a:pPr>
              <a:spcAft>
                <a:spcPts val="9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Build a simple Streamlit interface and version the trained model for a controlled demo.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20 •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F6C7C"/>
                </a:solidFill>
                <a:latin typeface="Aptos"/>
              </a:defRPr>
            </a:pPr>
            <a:r>
              <a:t>LOAN APPROVAL PREDICTION • ENSEMBLE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1206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66360" cy="1920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2233E"/>
                </a:solidFill>
                <a:latin typeface="Aptos"/>
              </a:defRPr>
            </a:pPr>
            <a:r>
              <a:t>The project establishes a data-understanding and EDA foundation for loan approval prediction using a 20,000-record dataset. The next stage is to train and fairly evaluate the three proposed ensemble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1206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REFERENCES /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5120640" cy="3200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Supplied files: ML Abstract.pdf</a:t>
            </a:r>
          </a:p>
          <a:p>
            <a:pPr>
              <a:spcAft>
                <a:spcPts val="6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Experiment1_ML_Corrected.ipynb</a:t>
            </a:r>
          </a:p>
          <a:p>
            <a:pPr>
              <a:spcAft>
                <a:spcPts val="6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experiment2_ML_Corrected.ipynb</a:t>
            </a:r>
          </a:p>
          <a:p>
            <a:pPr>
              <a:spcAft>
                <a:spcPts val="6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Pandas and NumPy documentation</a:t>
            </a:r>
          </a:p>
          <a:p>
            <a:pPr>
              <a:spcAft>
                <a:spcPts val="6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scikit-learn documentation</a:t>
            </a:r>
          </a:p>
          <a:p>
            <a:pPr>
              <a:spcAft>
                <a:spcPts val="6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XGBoost documentation</a:t>
            </a:r>
          </a:p>
          <a:p>
            <a:pPr>
              <a:spcAft>
                <a:spcPts val="6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LightGBM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104241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2864B4"/>
                </a:solidFill>
                <a:latin typeface="Aptos"/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