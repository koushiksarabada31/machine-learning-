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00" y="1250000"/>
            <a:ext cx="8600000" cy="1900000"/>
          </a:xfrm>
        </p:spPr>
        <p:txBody>
          <a:bodyPr anchor="b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6B6B6B"/>
                </a:solidFill>
              </a:rPr>
              <a:t>MACHINE LEARNING PROJECT</a:t>
            </a:r>
          </a:p>
          <a:p>
            <a:pPr algn="ctr"/>
            <a:r>
              <a:rPr sz="4000" b="1" i="0">
                <a:solidFill>
                  <a:srgbClr val="C00000"/>
                </a:solidFill>
              </a:rPr>
              <a:t>Loan Approval Prediction</a:t>
            </a:r>
          </a:p>
          <a:p>
            <a:pPr algn="ctr"/>
            <a:r>
              <a:rPr sz="3200" b="1" i="0">
                <a:solidFill>
                  <a:srgbClr val="C00000"/>
                </a:solidFill>
              </a:rPr>
              <a:t>Using Ensemble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00" y="3350000"/>
            <a:ext cx="8600000" cy="2900000"/>
          </a:xfrm>
        </p:spPr>
        <p:txBody>
          <a:bodyPr anchor="t"/>
          <a:lstStyle/>
          <a:p>
            <a:pPr algn="ctr">
              <a:spcAft>
                <a:spcPts val="1400"/>
              </a:spcAft>
            </a:pPr>
            <a:r>
              <a:rPr sz="2200" b="1" i="0">
                <a:solidFill>
                  <a:srgbClr val="0070C0"/>
                </a:solidFill>
              </a:rPr>
              <a:t>Random Forest  •  XGBoost  •  LightGBM</a:t>
            </a:r>
          </a:p>
          <a:p>
            <a:pPr algn="ctr"/>
            <a:r>
              <a:rPr sz="1800" b="1" i="0">
                <a:solidFill>
                  <a:srgbClr val="262626"/>
                </a:solidFill>
              </a:rPr>
              <a:t>S. Koushik — 2520090113</a:t>
            </a:r>
          </a:p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262626"/>
                </a:solidFill>
              </a:rPr>
              <a:t>Ch. Ganesh — 2520090112</a:t>
            </a:r>
          </a:p>
          <a:p>
            <a:pPr algn="ctr"/>
            <a:r>
              <a:rPr sz="1600" b="0" i="0">
                <a:solidFill>
                  <a:srgbClr val="262626"/>
                </a:solidFill>
              </a:rPr>
              <a:t>Guide: Dr. Y. Lakshmi Prasanna</a:t>
            </a:r>
          </a:p>
          <a:p>
            <a:pPr algn="ctr"/>
            <a:r>
              <a:rPr sz="1600" b="0" i="0">
                <a:solidFill>
                  <a:srgbClr val="262626"/>
                </a:solidFill>
              </a:rPr>
              <a:t>Department of CS&amp;IT  |  KLH University, Bachupally Campus</a:t>
            </a:r>
          </a:p>
          <a:p>
            <a:pPr algn="ctr"/>
            <a:r>
              <a:rPr sz="1600" b="0" i="0">
                <a:solidFill>
                  <a:srgbClr val="262626"/>
                </a:solidFill>
              </a:rPr>
              <a:t>Academic Year: 2026–2027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Introduction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2</a:t>
            </a:r>
          </a:p>
        </p:txBody>
      </p:sp>
      <p:sp>
        <p:nvSpPr>
          <p:cNvPr id="6" name="Card 1"/>
          <p:cNvSpPr/>
          <p:nvPr/>
        </p:nvSpPr>
        <p:spPr>
          <a:xfrm>
            <a:off x="3000000" y="1150000"/>
            <a:ext cx="2746666" cy="2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1"/>
          <p:cNvSpPr/>
          <p:nvPr/>
        </p:nvSpPr>
        <p:spPr>
          <a:xfrm>
            <a:off x="3150000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Card head 1"/>
          <p:cNvSpPr txBox="1"/>
          <p:nvPr/>
        </p:nvSpPr>
        <p:spPr>
          <a:xfrm>
            <a:off x="3570000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THE DOMAIN</a:t>
            </a:r>
          </a:p>
        </p:txBody>
      </p:sp>
      <p:sp>
        <p:nvSpPr>
          <p:cNvPr id="9" name="Card body 1"/>
          <p:cNvSpPr txBox="1"/>
          <p:nvPr/>
        </p:nvSpPr>
        <p:spPr>
          <a:xfrm>
            <a:off x="3150000" y="1720000"/>
            <a:ext cx="2446666" cy="208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Loan approval is a classification problem: use applicant and financial attributes to estimate whether a loan application is approved or rejected.</a:t>
            </a:r>
          </a:p>
        </p:txBody>
      </p:sp>
      <p:sp>
        <p:nvSpPr>
          <p:cNvPr id="10" name="Card 2"/>
          <p:cNvSpPr/>
          <p:nvPr/>
        </p:nvSpPr>
        <p:spPr>
          <a:xfrm>
            <a:off x="5976666" y="1150000"/>
            <a:ext cx="2746666" cy="2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dge 2"/>
          <p:cNvSpPr/>
          <p:nvPr/>
        </p:nvSpPr>
        <p:spPr>
          <a:xfrm>
            <a:off x="6126666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Card head 2"/>
          <p:cNvSpPr txBox="1"/>
          <p:nvPr/>
        </p:nvSpPr>
        <p:spPr>
          <a:xfrm>
            <a:off x="6546666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WHY IT MATTERS</a:t>
            </a:r>
          </a:p>
        </p:txBody>
      </p:sp>
      <p:sp>
        <p:nvSpPr>
          <p:cNvPr id="13" name="Card body 2"/>
          <p:cNvSpPr txBox="1"/>
          <p:nvPr/>
        </p:nvSpPr>
        <p:spPr>
          <a:xfrm>
            <a:off x="6126666" y="1720000"/>
            <a:ext cx="2446666" cy="208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Lenders need consistent, timely screening while considering repayment capacity, credit history, income and loan characteristics.</a:t>
            </a:r>
          </a:p>
        </p:txBody>
      </p:sp>
      <p:sp>
        <p:nvSpPr>
          <p:cNvPr id="14" name="Card 3"/>
          <p:cNvSpPr/>
          <p:nvPr/>
        </p:nvSpPr>
        <p:spPr>
          <a:xfrm>
            <a:off x="8953332" y="1150000"/>
            <a:ext cx="2746666" cy="2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dge 3"/>
          <p:cNvSpPr/>
          <p:nvPr/>
        </p:nvSpPr>
        <p:spPr>
          <a:xfrm>
            <a:off x="9103332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Card head 3"/>
          <p:cNvSpPr txBox="1"/>
          <p:nvPr/>
        </p:nvSpPr>
        <p:spPr>
          <a:xfrm>
            <a:off x="9523332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PROJECT IDEA</a:t>
            </a:r>
          </a:p>
        </p:txBody>
      </p:sp>
      <p:sp>
        <p:nvSpPr>
          <p:cNvPr id="17" name="Card body 3"/>
          <p:cNvSpPr txBox="1"/>
          <p:nvPr/>
        </p:nvSpPr>
        <p:spPr>
          <a:xfrm>
            <a:off x="9103332" y="1720000"/>
            <a:ext cx="2446666" cy="208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Explore the supplied loan dataset and develop a model-comparison pipeline using ensemble learning methods.</a:t>
            </a:r>
          </a:p>
        </p:txBody>
      </p:sp>
      <p:sp>
        <p:nvSpPr>
          <p:cNvPr id="18" name="Intro bullets"/>
          <p:cNvSpPr txBox="1"/>
          <p:nvPr/>
        </p:nvSpPr>
        <p:spPr>
          <a:xfrm>
            <a:off x="3000000" y="4200000"/>
            <a:ext cx="8700000" cy="17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262626"/>
                </a:solidFill>
              </a:rPr>
              <a:t>•  The target variable in the supplied data is </a:t>
            </a:r>
            <a:r>
              <a:rPr sz="1700" b="1" i="0">
                <a:solidFill>
                  <a:srgbClr val="C00000"/>
                </a:solidFill>
              </a:rPr>
              <a:t>Loan_Status</a:t>
            </a:r>
            <a:r>
              <a:rPr sz="1700" b="0" i="0">
                <a:solidFill>
                  <a:srgbClr val="262626"/>
                </a:solidFill>
              </a:rPr>
              <a:t> (Approved / Rejected).</a:t>
            </a:r>
          </a:p>
          <a:p>
            <a:pPr algn="l"/>
            <a:r>
              <a:rPr sz="1700" b="0" i="0">
                <a:solidFill>
                  <a:srgbClr val="262626"/>
                </a:solidFill>
              </a:rPr>
              <a:t>•  The experiment files first focus on data understanding and exploratory data analysis (EDA).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Problem Statement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3</a:t>
            </a:r>
          </a:p>
        </p:txBody>
      </p:sp>
      <p:sp>
        <p:nvSpPr>
          <p:cNvPr id="6" name="Card 1"/>
          <p:cNvSpPr/>
          <p:nvPr/>
        </p:nvSpPr>
        <p:spPr>
          <a:xfrm>
            <a:off x="3000000" y="1150000"/>
            <a:ext cx="4235000" cy="2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1"/>
          <p:cNvSpPr/>
          <p:nvPr/>
        </p:nvSpPr>
        <p:spPr>
          <a:xfrm>
            <a:off x="3150000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Card head 1"/>
          <p:cNvSpPr txBox="1"/>
          <p:nvPr/>
        </p:nvSpPr>
        <p:spPr>
          <a:xfrm>
            <a:off x="3570000" y="1290000"/>
            <a:ext cx="3515000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</a:rPr>
              <a:t>Mixed data</a:t>
            </a:r>
          </a:p>
        </p:txBody>
      </p:sp>
      <p:sp>
        <p:nvSpPr>
          <p:cNvPr id="9" name="Card body 1"/>
          <p:cNvSpPr txBox="1"/>
          <p:nvPr/>
        </p:nvSpPr>
        <p:spPr>
          <a:xfrm>
            <a:off x="3150000" y="1720000"/>
            <a:ext cx="3935000" cy="158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Loan applications contain mixed numerical and categorical attributes, and some fields have missing values.</a:t>
            </a:r>
          </a:p>
        </p:txBody>
      </p:sp>
      <p:sp>
        <p:nvSpPr>
          <p:cNvPr id="10" name="Card 2"/>
          <p:cNvSpPr/>
          <p:nvPr/>
        </p:nvSpPr>
        <p:spPr>
          <a:xfrm>
            <a:off x="7465000" y="1150000"/>
            <a:ext cx="4235000" cy="2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dge 2"/>
          <p:cNvSpPr/>
          <p:nvPr/>
        </p:nvSpPr>
        <p:spPr>
          <a:xfrm>
            <a:off x="7615000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Card head 2"/>
          <p:cNvSpPr txBox="1"/>
          <p:nvPr/>
        </p:nvSpPr>
        <p:spPr>
          <a:xfrm>
            <a:off x="8035000" y="1290000"/>
            <a:ext cx="3515000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</a:rPr>
              <a:t>Manual assessment</a:t>
            </a:r>
          </a:p>
        </p:txBody>
      </p:sp>
      <p:sp>
        <p:nvSpPr>
          <p:cNvPr id="13" name="Card body 2"/>
          <p:cNvSpPr txBox="1"/>
          <p:nvPr/>
        </p:nvSpPr>
        <p:spPr>
          <a:xfrm>
            <a:off x="7615000" y="1720000"/>
            <a:ext cx="3935000" cy="158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Manual assessment can be time-consuming and may produce inconsistent decisions across large application volumes.</a:t>
            </a:r>
          </a:p>
        </p:txBody>
      </p:sp>
      <p:sp>
        <p:nvSpPr>
          <p:cNvPr id="14" name="Card 3"/>
          <p:cNvSpPr/>
          <p:nvPr/>
        </p:nvSpPr>
        <p:spPr>
          <a:xfrm>
            <a:off x="3000000" y="3630000"/>
            <a:ext cx="4235000" cy="2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dge 3"/>
          <p:cNvSpPr/>
          <p:nvPr/>
        </p:nvSpPr>
        <p:spPr>
          <a:xfrm>
            <a:off x="3150000" y="377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Card head 3"/>
          <p:cNvSpPr txBox="1"/>
          <p:nvPr/>
        </p:nvSpPr>
        <p:spPr>
          <a:xfrm>
            <a:off x="3570000" y="3770000"/>
            <a:ext cx="3515000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</a:rPr>
              <a:t>Careful evaluation</a:t>
            </a:r>
          </a:p>
        </p:txBody>
      </p:sp>
      <p:sp>
        <p:nvSpPr>
          <p:cNvPr id="17" name="Card body 3"/>
          <p:cNvSpPr txBox="1"/>
          <p:nvPr/>
        </p:nvSpPr>
        <p:spPr>
          <a:xfrm>
            <a:off x="3150000" y="4200000"/>
            <a:ext cx="3935000" cy="158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A predictive workflow must prepare the data carefully and evaluate model performance instead of relying on assumptions.</a:t>
            </a:r>
          </a:p>
        </p:txBody>
      </p:sp>
      <p:sp>
        <p:nvSpPr>
          <p:cNvPr id="18" name="Card 4"/>
          <p:cNvSpPr/>
          <p:nvPr/>
        </p:nvSpPr>
        <p:spPr>
          <a:xfrm>
            <a:off x="7465000" y="3630000"/>
            <a:ext cx="4235000" cy="22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dge 4"/>
          <p:cNvSpPr/>
          <p:nvPr/>
        </p:nvSpPr>
        <p:spPr>
          <a:xfrm>
            <a:off x="7615000" y="377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Card head 4"/>
          <p:cNvSpPr txBox="1"/>
          <p:nvPr/>
        </p:nvSpPr>
        <p:spPr>
          <a:xfrm>
            <a:off x="8035000" y="3770000"/>
            <a:ext cx="3515000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</a:rPr>
              <a:t>Stakeholders</a:t>
            </a:r>
          </a:p>
        </p:txBody>
      </p:sp>
      <p:sp>
        <p:nvSpPr>
          <p:cNvPr id="21" name="Card body 4"/>
          <p:cNvSpPr txBox="1"/>
          <p:nvPr/>
        </p:nvSpPr>
        <p:spPr>
          <a:xfrm>
            <a:off x="7615000" y="4200000"/>
            <a:ext cx="3935000" cy="158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0" i="0">
                <a:solidFill>
                  <a:srgbClr val="262626"/>
                </a:solidFill>
              </a:rPr>
              <a:t>Stakeholders affected: applicants, loan officers, risk teams and financial institutions.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Motivation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4</a:t>
            </a:r>
          </a:p>
        </p:txBody>
      </p:sp>
      <p:sp>
        <p:nvSpPr>
          <p:cNvPr id="6" name="Card 1"/>
          <p:cNvSpPr/>
          <p:nvPr/>
        </p:nvSpPr>
        <p:spPr>
          <a:xfrm>
            <a:off x="3000000" y="1150000"/>
            <a:ext cx="2746666" cy="2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1"/>
          <p:cNvSpPr/>
          <p:nvPr/>
        </p:nvSpPr>
        <p:spPr>
          <a:xfrm>
            <a:off x="3150000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Card head 1"/>
          <p:cNvSpPr txBox="1"/>
          <p:nvPr/>
        </p:nvSpPr>
        <p:spPr>
          <a:xfrm>
            <a:off x="3570000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REAL-WORLD NEED</a:t>
            </a:r>
          </a:p>
        </p:txBody>
      </p:sp>
      <p:sp>
        <p:nvSpPr>
          <p:cNvPr id="9" name="Card body 1"/>
          <p:cNvSpPr txBox="1"/>
          <p:nvPr/>
        </p:nvSpPr>
        <p:spPr>
          <a:xfrm>
            <a:off x="3150000" y="1720000"/>
            <a:ext cx="2446666" cy="22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Loan screening is a practical decision-support use case where structured data can support more consistent review.</a:t>
            </a:r>
          </a:p>
        </p:txBody>
      </p:sp>
      <p:sp>
        <p:nvSpPr>
          <p:cNvPr id="10" name="Card 2"/>
          <p:cNvSpPr/>
          <p:nvPr/>
        </p:nvSpPr>
        <p:spPr>
          <a:xfrm>
            <a:off x="5976666" y="1150000"/>
            <a:ext cx="2746666" cy="2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dge 2"/>
          <p:cNvSpPr/>
          <p:nvPr/>
        </p:nvSpPr>
        <p:spPr>
          <a:xfrm>
            <a:off x="6126666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Card head 2"/>
          <p:cNvSpPr txBox="1"/>
          <p:nvPr/>
        </p:nvSpPr>
        <p:spPr>
          <a:xfrm>
            <a:off x="6546666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TECHNICAL LEARNING</a:t>
            </a:r>
          </a:p>
        </p:txBody>
      </p:sp>
      <p:sp>
        <p:nvSpPr>
          <p:cNvPr id="13" name="Card body 2"/>
          <p:cNvSpPr txBox="1"/>
          <p:nvPr/>
        </p:nvSpPr>
        <p:spPr>
          <a:xfrm>
            <a:off x="6126666" y="1720000"/>
            <a:ext cx="2446666" cy="22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The project combines data inspection, missing-value analysis, EDA, feature preparation and supervised classification.</a:t>
            </a:r>
          </a:p>
        </p:txBody>
      </p:sp>
      <p:sp>
        <p:nvSpPr>
          <p:cNvPr id="14" name="Card 3"/>
          <p:cNvSpPr/>
          <p:nvPr/>
        </p:nvSpPr>
        <p:spPr>
          <a:xfrm>
            <a:off x="8953332" y="1150000"/>
            <a:ext cx="2746666" cy="2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dge 3"/>
          <p:cNvSpPr/>
          <p:nvPr/>
        </p:nvSpPr>
        <p:spPr>
          <a:xfrm>
            <a:off x="9103332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Card head 3"/>
          <p:cNvSpPr txBox="1"/>
          <p:nvPr/>
        </p:nvSpPr>
        <p:spPr>
          <a:xfrm>
            <a:off x="9523332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MODEL COMPARISON</a:t>
            </a:r>
          </a:p>
        </p:txBody>
      </p:sp>
      <p:sp>
        <p:nvSpPr>
          <p:cNvPr id="17" name="Card body 3"/>
          <p:cNvSpPr txBox="1"/>
          <p:nvPr/>
        </p:nvSpPr>
        <p:spPr>
          <a:xfrm>
            <a:off x="9103332" y="1720000"/>
            <a:ext cx="2446666" cy="22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Random Forest, XGBoost and LightGBM provide three ensemble approaches to compare on the same task.</a:t>
            </a:r>
          </a:p>
        </p:txBody>
      </p:sp>
      <p:sp>
        <p:nvSpPr>
          <p:cNvPr id="18" name="Note"/>
          <p:cNvSpPr/>
          <p:nvPr/>
        </p:nvSpPr>
        <p:spPr>
          <a:xfrm>
            <a:off x="3000000" y="4350000"/>
            <a:ext cx="8700000" cy="9000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pPr algn="l"/>
            <a:r>
              <a:rPr sz="1800" b="1" i="0">
                <a:solidFill>
                  <a:srgbClr val="C00000"/>
                </a:solidFill>
              </a:rPr>
              <a:t>The goal is decision support—not automatic approval without human review, validation and fairness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Objectives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5</a:t>
            </a:r>
          </a:p>
        </p:txBody>
      </p:sp>
      <p:sp>
        <p:nvSpPr>
          <p:cNvPr id="6" name="Row 1"/>
          <p:cNvSpPr/>
          <p:nvPr/>
        </p:nvSpPr>
        <p:spPr>
          <a:xfrm>
            <a:off x="3000000" y="1150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1"/>
          <p:cNvSpPr/>
          <p:nvPr/>
        </p:nvSpPr>
        <p:spPr>
          <a:xfrm>
            <a:off x="3160000" y="1359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w text 1"/>
          <p:cNvSpPr txBox="1"/>
          <p:nvPr/>
        </p:nvSpPr>
        <p:spPr>
          <a:xfrm>
            <a:off x="3760000" y="1150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Understand the dataset structure, data types, target labels and data quality.</a:t>
            </a:r>
          </a:p>
        </p:txBody>
      </p:sp>
      <p:sp>
        <p:nvSpPr>
          <p:cNvPr id="9" name="Row 2"/>
          <p:cNvSpPr/>
          <p:nvPr/>
        </p:nvSpPr>
        <p:spPr>
          <a:xfrm>
            <a:off x="3000000" y="2128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dge 2"/>
          <p:cNvSpPr/>
          <p:nvPr/>
        </p:nvSpPr>
        <p:spPr>
          <a:xfrm>
            <a:off x="3160000" y="2337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ow text 2"/>
          <p:cNvSpPr txBox="1"/>
          <p:nvPr/>
        </p:nvSpPr>
        <p:spPr>
          <a:xfrm>
            <a:off x="3760000" y="2128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Explore missing values, duplicates, distributions, relationships and potential outliers.</a:t>
            </a:r>
          </a:p>
        </p:txBody>
      </p:sp>
      <p:sp>
        <p:nvSpPr>
          <p:cNvPr id="12" name="Row 3"/>
          <p:cNvSpPr/>
          <p:nvPr/>
        </p:nvSpPr>
        <p:spPr>
          <a:xfrm>
            <a:off x="3000000" y="3106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dge 3"/>
          <p:cNvSpPr/>
          <p:nvPr/>
        </p:nvSpPr>
        <p:spPr>
          <a:xfrm>
            <a:off x="3160000" y="3315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ow text 3"/>
          <p:cNvSpPr txBox="1"/>
          <p:nvPr/>
        </p:nvSpPr>
        <p:spPr>
          <a:xfrm>
            <a:off x="3760000" y="3106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Prepare the data for classification, including target/feature separation and train–test splitting.</a:t>
            </a:r>
          </a:p>
        </p:txBody>
      </p:sp>
      <p:sp>
        <p:nvSpPr>
          <p:cNvPr id="15" name="Row 4"/>
          <p:cNvSpPr/>
          <p:nvPr/>
        </p:nvSpPr>
        <p:spPr>
          <a:xfrm>
            <a:off x="3000000" y="4084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dge 4"/>
          <p:cNvSpPr/>
          <p:nvPr/>
        </p:nvSpPr>
        <p:spPr>
          <a:xfrm>
            <a:off x="3160000" y="4293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w text 4"/>
          <p:cNvSpPr txBox="1"/>
          <p:nvPr/>
        </p:nvSpPr>
        <p:spPr>
          <a:xfrm>
            <a:off x="3760000" y="4084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Compare Random Forest, XGBoost and LightGBM using consistent evaluation metrics.</a:t>
            </a:r>
          </a:p>
        </p:txBody>
      </p:sp>
      <p:sp>
        <p:nvSpPr>
          <p:cNvPr id="18" name="Row 5"/>
          <p:cNvSpPr/>
          <p:nvPr/>
        </p:nvSpPr>
        <p:spPr>
          <a:xfrm>
            <a:off x="3000000" y="5062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dge 5"/>
          <p:cNvSpPr/>
          <p:nvPr/>
        </p:nvSpPr>
        <p:spPr>
          <a:xfrm>
            <a:off x="3160000" y="5271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Row text 5"/>
          <p:cNvSpPr txBox="1"/>
          <p:nvPr/>
        </p:nvSpPr>
        <p:spPr>
          <a:xfrm>
            <a:off x="3760000" y="5062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Present results and key factors in a clear, interpretable 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Existing System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6</a:t>
            </a:r>
          </a:p>
        </p:txBody>
      </p:sp>
      <p:sp>
        <p:nvSpPr>
          <p:cNvPr id="6" name="Card 1"/>
          <p:cNvSpPr/>
          <p:nvPr/>
        </p:nvSpPr>
        <p:spPr>
          <a:xfrm>
            <a:off x="3000000" y="1150000"/>
            <a:ext cx="2746666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1"/>
          <p:cNvSpPr/>
          <p:nvPr/>
        </p:nvSpPr>
        <p:spPr>
          <a:xfrm>
            <a:off x="3150000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Card head 1"/>
          <p:cNvSpPr txBox="1"/>
          <p:nvPr/>
        </p:nvSpPr>
        <p:spPr>
          <a:xfrm>
            <a:off x="3570000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MANUAL REVIEW</a:t>
            </a:r>
          </a:p>
        </p:txBody>
      </p:sp>
      <p:sp>
        <p:nvSpPr>
          <p:cNvPr id="9" name="Card body 1"/>
          <p:cNvSpPr txBox="1"/>
          <p:nvPr/>
        </p:nvSpPr>
        <p:spPr>
          <a:xfrm>
            <a:off x="3150000" y="1720000"/>
            <a:ext cx="2446666" cy="20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Officers examine income, credit, employment, liabilities and supporting documents.</a:t>
            </a:r>
          </a:p>
        </p:txBody>
      </p:sp>
      <p:sp>
        <p:nvSpPr>
          <p:cNvPr id="10" name="Card 2"/>
          <p:cNvSpPr/>
          <p:nvPr/>
        </p:nvSpPr>
        <p:spPr>
          <a:xfrm>
            <a:off x="5976666" y="1150000"/>
            <a:ext cx="2746666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dge 2"/>
          <p:cNvSpPr/>
          <p:nvPr/>
        </p:nvSpPr>
        <p:spPr>
          <a:xfrm>
            <a:off x="6126666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Card head 2"/>
          <p:cNvSpPr txBox="1"/>
          <p:nvPr/>
        </p:nvSpPr>
        <p:spPr>
          <a:xfrm>
            <a:off x="6546666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RULE-BASED SCREENING</a:t>
            </a:r>
          </a:p>
        </p:txBody>
      </p:sp>
      <p:sp>
        <p:nvSpPr>
          <p:cNvPr id="13" name="Card body 2"/>
          <p:cNvSpPr txBox="1"/>
          <p:nvPr/>
        </p:nvSpPr>
        <p:spPr>
          <a:xfrm>
            <a:off x="6126666" y="1720000"/>
            <a:ext cx="2446666" cy="20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Fixed thresholds and policies can be useful, but may not capture complex interactions among variables.</a:t>
            </a:r>
          </a:p>
        </p:txBody>
      </p:sp>
      <p:sp>
        <p:nvSpPr>
          <p:cNvPr id="14" name="Card 3"/>
          <p:cNvSpPr/>
          <p:nvPr/>
        </p:nvSpPr>
        <p:spPr>
          <a:xfrm>
            <a:off x="8953332" y="1150000"/>
            <a:ext cx="2746666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dge 3"/>
          <p:cNvSpPr/>
          <p:nvPr/>
        </p:nvSpPr>
        <p:spPr>
          <a:xfrm>
            <a:off x="9103332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Card head 3"/>
          <p:cNvSpPr txBox="1"/>
          <p:nvPr/>
        </p:nvSpPr>
        <p:spPr>
          <a:xfrm>
            <a:off x="9523332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KEY LIMITATIONS</a:t>
            </a:r>
          </a:p>
        </p:txBody>
      </p:sp>
      <p:sp>
        <p:nvSpPr>
          <p:cNvPr id="17" name="Card body 3"/>
          <p:cNvSpPr txBox="1"/>
          <p:nvPr/>
        </p:nvSpPr>
        <p:spPr>
          <a:xfrm>
            <a:off x="9103332" y="1720000"/>
            <a:ext cx="2446666" cy="20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High review effort, inconsistent edge-case handling and limited ability to learn patterns from historical data.</a:t>
            </a:r>
          </a:p>
        </p:txBody>
      </p:sp>
      <p:sp>
        <p:nvSpPr>
          <p:cNvPr id="18" name="Note"/>
          <p:cNvSpPr/>
          <p:nvPr/>
        </p:nvSpPr>
        <p:spPr>
          <a:xfrm>
            <a:off x="3000000" y="4200000"/>
            <a:ext cx="8700000" cy="9500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This presentation treats these as general baseline approaches; the supplied notebooks do not document a specific deployed legacy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Proposed System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7</a:t>
            </a:r>
          </a:p>
        </p:txBody>
      </p:sp>
      <p:sp>
        <p:nvSpPr>
          <p:cNvPr id="6" name="Row 1"/>
          <p:cNvSpPr/>
          <p:nvPr/>
        </p:nvSpPr>
        <p:spPr>
          <a:xfrm>
            <a:off x="3000000" y="1150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1"/>
          <p:cNvSpPr/>
          <p:nvPr/>
        </p:nvSpPr>
        <p:spPr>
          <a:xfrm>
            <a:off x="3160000" y="1359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w text 1"/>
          <p:cNvSpPr txBox="1"/>
          <p:nvPr/>
        </p:nvSpPr>
        <p:spPr>
          <a:xfrm>
            <a:off x="3760000" y="1150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Use the supplied 20,000-record dataset as the starting point for analysis.</a:t>
            </a:r>
          </a:p>
        </p:txBody>
      </p:sp>
      <p:sp>
        <p:nvSpPr>
          <p:cNvPr id="9" name="Row 2"/>
          <p:cNvSpPr/>
          <p:nvPr/>
        </p:nvSpPr>
        <p:spPr>
          <a:xfrm>
            <a:off x="3000000" y="2128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dge 2"/>
          <p:cNvSpPr/>
          <p:nvPr/>
        </p:nvSpPr>
        <p:spPr>
          <a:xfrm>
            <a:off x="3160000" y="2337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ow text 2"/>
          <p:cNvSpPr txBox="1"/>
          <p:nvPr/>
        </p:nvSpPr>
        <p:spPr>
          <a:xfrm>
            <a:off x="3760000" y="2128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Inspect and clean data; handle missing values and exclude identifier fields from predictive inputs.</a:t>
            </a:r>
          </a:p>
        </p:txBody>
      </p:sp>
      <p:sp>
        <p:nvSpPr>
          <p:cNvPr id="12" name="Row 3"/>
          <p:cNvSpPr/>
          <p:nvPr/>
        </p:nvSpPr>
        <p:spPr>
          <a:xfrm>
            <a:off x="3000000" y="3106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dge 3"/>
          <p:cNvSpPr/>
          <p:nvPr/>
        </p:nvSpPr>
        <p:spPr>
          <a:xfrm>
            <a:off x="3160000" y="3315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ow text 3"/>
          <p:cNvSpPr txBox="1"/>
          <p:nvPr/>
        </p:nvSpPr>
        <p:spPr>
          <a:xfrm>
            <a:off x="3760000" y="3106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Train candidate ensemble classifiers on a consistent split and compare their metrics.</a:t>
            </a:r>
          </a:p>
        </p:txBody>
      </p:sp>
      <p:sp>
        <p:nvSpPr>
          <p:cNvPr id="15" name="Row 4"/>
          <p:cNvSpPr/>
          <p:nvPr/>
        </p:nvSpPr>
        <p:spPr>
          <a:xfrm>
            <a:off x="3000000" y="4084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dge 4"/>
          <p:cNvSpPr/>
          <p:nvPr/>
        </p:nvSpPr>
        <p:spPr>
          <a:xfrm>
            <a:off x="3160000" y="4293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w text 4"/>
          <p:cNvSpPr txBox="1"/>
          <p:nvPr/>
        </p:nvSpPr>
        <p:spPr>
          <a:xfrm>
            <a:off x="3760000" y="4084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Generate an approval/rejection prediction with supporting evaluation and feature-importance analysis.</a:t>
            </a:r>
          </a:p>
        </p:txBody>
      </p:sp>
      <p:sp>
        <p:nvSpPr>
          <p:cNvPr id="18" name="Row 5"/>
          <p:cNvSpPr/>
          <p:nvPr/>
        </p:nvSpPr>
        <p:spPr>
          <a:xfrm>
            <a:off x="3000000" y="5062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dge 5"/>
          <p:cNvSpPr/>
          <p:nvPr/>
        </p:nvSpPr>
        <p:spPr>
          <a:xfrm>
            <a:off x="3160000" y="5271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Row text 5"/>
          <p:cNvSpPr txBox="1"/>
          <p:nvPr/>
        </p:nvSpPr>
        <p:spPr>
          <a:xfrm>
            <a:off x="3760000" y="5062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Keep the system as decision support with human oversight, fairness checks and documented limitations.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2896000" y="221673"/>
            <a:ext cx="640000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System Architecture / Block Diagram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8</a:t>
            </a:r>
          </a:p>
        </p:txBody>
      </p:sp>
      <p:sp>
        <p:nvSpPr>
          <p:cNvPr id="6" name="Stage 1"/>
          <p:cNvSpPr/>
          <p:nvPr/>
        </p:nvSpPr>
        <p:spPr>
          <a:xfrm>
            <a:off x="3000000" y="1550000"/>
            <a:ext cx="1476000" cy="14000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Loan dataset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(CSV)</a:t>
            </a:r>
          </a:p>
        </p:txBody>
      </p:sp>
      <p:sp>
        <p:nvSpPr>
          <p:cNvPr id="7" name="Arrow 1"/>
          <p:cNvSpPr/>
          <p:nvPr/>
        </p:nvSpPr>
        <p:spPr>
          <a:xfrm>
            <a:off x="4521000" y="2120000"/>
            <a:ext cx="240000" cy="260000"/>
          </a:xfrm>
          <a:prstGeom prst="rightArrow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ge 2"/>
          <p:cNvSpPr/>
          <p:nvPr/>
        </p:nvSpPr>
        <p:spPr>
          <a:xfrm>
            <a:off x="4806000" y="1550000"/>
            <a:ext cx="1476000" cy="14000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Data audit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&amp; EDA</a:t>
            </a:r>
          </a:p>
        </p:txBody>
      </p:sp>
      <p:sp>
        <p:nvSpPr>
          <p:cNvPr id="9" name="Arrow 2"/>
          <p:cNvSpPr/>
          <p:nvPr/>
        </p:nvSpPr>
        <p:spPr>
          <a:xfrm>
            <a:off x="6327000" y="2120000"/>
            <a:ext cx="240000" cy="260000"/>
          </a:xfrm>
          <a:prstGeom prst="rightArrow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ge 3"/>
          <p:cNvSpPr/>
          <p:nvPr/>
        </p:nvSpPr>
        <p:spPr>
          <a:xfrm>
            <a:off x="6612000" y="1550000"/>
            <a:ext cx="1476000" cy="14000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Preprocessing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&amp; encoding</a:t>
            </a:r>
          </a:p>
        </p:txBody>
      </p:sp>
      <p:sp>
        <p:nvSpPr>
          <p:cNvPr id="11" name="Arrow 3"/>
          <p:cNvSpPr/>
          <p:nvPr/>
        </p:nvSpPr>
        <p:spPr>
          <a:xfrm>
            <a:off x="8133000" y="2120000"/>
            <a:ext cx="240000" cy="260000"/>
          </a:xfrm>
          <a:prstGeom prst="rightArrow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ge 4"/>
          <p:cNvSpPr/>
          <p:nvPr/>
        </p:nvSpPr>
        <p:spPr>
          <a:xfrm>
            <a:off x="8418000" y="1550000"/>
            <a:ext cx="1476000" cy="14000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Ensemble models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RF / XGB / LGBM</a:t>
            </a:r>
          </a:p>
        </p:txBody>
      </p:sp>
      <p:sp>
        <p:nvSpPr>
          <p:cNvPr id="13" name="Arrow 4"/>
          <p:cNvSpPr/>
          <p:nvPr/>
        </p:nvSpPr>
        <p:spPr>
          <a:xfrm>
            <a:off x="9939000" y="2120000"/>
            <a:ext cx="240000" cy="260000"/>
          </a:xfrm>
          <a:prstGeom prst="rightArrow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ge 5"/>
          <p:cNvSpPr/>
          <p:nvPr/>
        </p:nvSpPr>
        <p:spPr>
          <a:xfrm>
            <a:off x="10224000" y="1550000"/>
            <a:ext cx="1476000" cy="14000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</a:rPr>
              <a:t>Evaluation &amp; output</a:t>
            </a:r>
          </a:p>
          <a:p>
            <a:pPr algn="ctr"/>
            <a:r>
              <a:rPr sz="1400" b="0" i="0">
                <a:solidFill>
                  <a:srgbClr val="FFFFFF"/>
                </a:solidFill>
              </a:rPr>
              <a:t>metrics / prediction</a:t>
            </a:r>
          </a:p>
        </p:txBody>
      </p:sp>
      <p:sp>
        <p:nvSpPr>
          <p:cNvPr id="15" name="Note"/>
          <p:cNvSpPr/>
          <p:nvPr/>
        </p:nvSpPr>
        <p:spPr>
          <a:xfrm>
            <a:off x="3000000" y="3500000"/>
            <a:ext cx="8700000" cy="10000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pPr algn="l"/>
            <a:r>
              <a:rPr sz="1800" b="1" i="0">
                <a:solidFill>
                  <a:srgbClr val="C00000"/>
                </a:solidFill>
              </a:rPr>
              <a:t>Inputs: applicant profile, income, liabilities, credit and loan details.  |  Output: predicted class and measured model performance.</a:t>
            </a:r>
          </a:p>
        </p:txBody>
      </p:sp>
      <p:sp>
        <p:nvSpPr>
          <p:cNvPr id="16" name="Architecture note"/>
          <p:cNvSpPr txBox="1"/>
          <p:nvPr/>
        </p:nvSpPr>
        <p:spPr>
          <a:xfrm>
            <a:off x="3000000" y="4800000"/>
            <a:ext cx="8700000" cy="8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</a:rPr>
              <a:t>The supplied experiment notebooks establish data understanding and EDA; training/evaluation stages are the intended model-development pipeline.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Methodology / Workflow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9</a:t>
            </a:r>
          </a:p>
        </p:txBody>
      </p:sp>
      <p:sp>
        <p:nvSpPr>
          <p:cNvPr id="6" name="Step card 1"/>
          <p:cNvSpPr/>
          <p:nvPr/>
        </p:nvSpPr>
        <p:spPr>
          <a:xfrm>
            <a:off x="3000000" y="1300000"/>
            <a:ext cx="20025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1"/>
          <p:cNvSpPr/>
          <p:nvPr/>
        </p:nvSpPr>
        <p:spPr>
          <a:xfrm>
            <a:off x="3741250" y="150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Step label 1"/>
          <p:cNvSpPr txBox="1"/>
          <p:nvPr/>
        </p:nvSpPr>
        <p:spPr>
          <a:xfrm>
            <a:off x="3080000" y="2120000"/>
            <a:ext cx="1842500" cy="7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62626"/>
                </a:solidFill>
              </a:rPr>
              <a:t>Load CSV</a:t>
            </a:r>
          </a:p>
        </p:txBody>
      </p:sp>
      <p:sp>
        <p:nvSpPr>
          <p:cNvPr id="9" name="Step card 2"/>
          <p:cNvSpPr/>
          <p:nvPr/>
        </p:nvSpPr>
        <p:spPr>
          <a:xfrm>
            <a:off x="5232500" y="1300000"/>
            <a:ext cx="20025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dge 2"/>
          <p:cNvSpPr/>
          <p:nvPr/>
        </p:nvSpPr>
        <p:spPr>
          <a:xfrm>
            <a:off x="5973750" y="150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Step label 2"/>
          <p:cNvSpPr txBox="1"/>
          <p:nvPr/>
        </p:nvSpPr>
        <p:spPr>
          <a:xfrm>
            <a:off x="5312500" y="2120000"/>
            <a:ext cx="1842500" cy="7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62626"/>
                </a:solidFill>
              </a:rPr>
              <a:t>Inspect schema</a:t>
            </a:r>
          </a:p>
        </p:txBody>
      </p:sp>
      <p:sp>
        <p:nvSpPr>
          <p:cNvPr id="12" name="Step card 3"/>
          <p:cNvSpPr/>
          <p:nvPr/>
        </p:nvSpPr>
        <p:spPr>
          <a:xfrm>
            <a:off x="7465000" y="1300000"/>
            <a:ext cx="20025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dge 3"/>
          <p:cNvSpPr/>
          <p:nvPr/>
        </p:nvSpPr>
        <p:spPr>
          <a:xfrm>
            <a:off x="8206250" y="150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Step label 3"/>
          <p:cNvSpPr txBox="1"/>
          <p:nvPr/>
        </p:nvSpPr>
        <p:spPr>
          <a:xfrm>
            <a:off x="7545000" y="2120000"/>
            <a:ext cx="1842500" cy="7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62626"/>
                </a:solidFill>
              </a:rPr>
              <a:t>Analyze missingness</a:t>
            </a:r>
          </a:p>
        </p:txBody>
      </p:sp>
      <p:sp>
        <p:nvSpPr>
          <p:cNvPr id="15" name="Step card 4"/>
          <p:cNvSpPr/>
          <p:nvPr/>
        </p:nvSpPr>
        <p:spPr>
          <a:xfrm>
            <a:off x="9697500" y="1300000"/>
            <a:ext cx="20025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dge 4"/>
          <p:cNvSpPr/>
          <p:nvPr/>
        </p:nvSpPr>
        <p:spPr>
          <a:xfrm>
            <a:off x="10438750" y="150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Step label 4"/>
          <p:cNvSpPr txBox="1"/>
          <p:nvPr/>
        </p:nvSpPr>
        <p:spPr>
          <a:xfrm>
            <a:off x="9777500" y="2120000"/>
            <a:ext cx="1842500" cy="7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62626"/>
                </a:solidFill>
              </a:rPr>
              <a:t>Explore patterns</a:t>
            </a:r>
          </a:p>
        </p:txBody>
      </p:sp>
      <p:sp>
        <p:nvSpPr>
          <p:cNvPr id="18" name="Step card 5"/>
          <p:cNvSpPr/>
          <p:nvPr/>
        </p:nvSpPr>
        <p:spPr>
          <a:xfrm>
            <a:off x="3000000" y="3260000"/>
            <a:ext cx="20025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dge 5"/>
          <p:cNvSpPr/>
          <p:nvPr/>
        </p:nvSpPr>
        <p:spPr>
          <a:xfrm>
            <a:off x="3741250" y="346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Step label 5"/>
          <p:cNvSpPr txBox="1"/>
          <p:nvPr/>
        </p:nvSpPr>
        <p:spPr>
          <a:xfrm>
            <a:off x="3080000" y="4080000"/>
            <a:ext cx="1842500" cy="7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62626"/>
                </a:solidFill>
              </a:rPr>
              <a:t>Preprocess</a:t>
            </a:r>
          </a:p>
        </p:txBody>
      </p:sp>
      <p:sp>
        <p:nvSpPr>
          <p:cNvPr id="21" name="Step card 6"/>
          <p:cNvSpPr/>
          <p:nvPr/>
        </p:nvSpPr>
        <p:spPr>
          <a:xfrm>
            <a:off x="5232500" y="3260000"/>
            <a:ext cx="20025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dge 6"/>
          <p:cNvSpPr/>
          <p:nvPr/>
        </p:nvSpPr>
        <p:spPr>
          <a:xfrm>
            <a:off x="5973750" y="346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Step label 6"/>
          <p:cNvSpPr txBox="1"/>
          <p:nvPr/>
        </p:nvSpPr>
        <p:spPr>
          <a:xfrm>
            <a:off x="5312500" y="4080000"/>
            <a:ext cx="1842500" cy="7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62626"/>
                </a:solidFill>
              </a:rPr>
              <a:t>Split data</a:t>
            </a:r>
          </a:p>
        </p:txBody>
      </p:sp>
      <p:sp>
        <p:nvSpPr>
          <p:cNvPr id="24" name="Step card 7"/>
          <p:cNvSpPr/>
          <p:nvPr/>
        </p:nvSpPr>
        <p:spPr>
          <a:xfrm>
            <a:off x="7465000" y="3260000"/>
            <a:ext cx="20025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dge 7"/>
          <p:cNvSpPr/>
          <p:nvPr/>
        </p:nvSpPr>
        <p:spPr>
          <a:xfrm>
            <a:off x="8206250" y="346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Step label 7"/>
          <p:cNvSpPr txBox="1"/>
          <p:nvPr/>
        </p:nvSpPr>
        <p:spPr>
          <a:xfrm>
            <a:off x="7545000" y="4080000"/>
            <a:ext cx="1842500" cy="7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62626"/>
                </a:solidFill>
              </a:rPr>
              <a:t>Train models</a:t>
            </a:r>
          </a:p>
        </p:txBody>
      </p:sp>
      <p:sp>
        <p:nvSpPr>
          <p:cNvPr id="27" name="Step card 8"/>
          <p:cNvSpPr/>
          <p:nvPr/>
        </p:nvSpPr>
        <p:spPr>
          <a:xfrm>
            <a:off x="9697500" y="3260000"/>
            <a:ext cx="2002500" cy="16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dge 8"/>
          <p:cNvSpPr/>
          <p:nvPr/>
        </p:nvSpPr>
        <p:spPr>
          <a:xfrm>
            <a:off x="10438750" y="3460000"/>
            <a:ext cx="520000" cy="5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9" name="Step label 8"/>
          <p:cNvSpPr txBox="1"/>
          <p:nvPr/>
        </p:nvSpPr>
        <p:spPr>
          <a:xfrm>
            <a:off x="9777500" y="4080000"/>
            <a:ext cx="1842500" cy="7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800" b="1" i="0">
                <a:solidFill>
                  <a:srgbClr val="262626"/>
                </a:solidFill>
              </a:rPr>
              <a:t>Evaluate &amp; compare</a:t>
            </a:r>
          </a:p>
        </p:txBody>
      </p:sp>
      <p:sp>
        <p:nvSpPr>
          <p:cNvPr id="30" name="Method note"/>
          <p:cNvSpPr txBox="1"/>
          <p:nvPr/>
        </p:nvSpPr>
        <p:spPr>
          <a:xfrm>
            <a:off x="3000000" y="5200000"/>
            <a:ext cx="8700000" cy="5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600" b="0" i="1">
                <a:solidFill>
                  <a:srgbClr val="6B6B6B"/>
                </a:solidFill>
              </a:rPr>
              <a:t>Repeat with the same split and metric definitions to make model comparison fair.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Technology Stack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10</a:t>
            </a:r>
          </a:p>
        </p:txBody>
      </p:sp>
      <p:sp>
        <p:nvSpPr>
          <p:cNvPr id="6" name="Card 1"/>
          <p:cNvSpPr/>
          <p:nvPr/>
        </p:nvSpPr>
        <p:spPr>
          <a:xfrm>
            <a:off x="3000000" y="1150000"/>
            <a:ext cx="2746666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head 1"/>
          <p:cNvSpPr txBox="1"/>
          <p:nvPr/>
        </p:nvSpPr>
        <p:spPr>
          <a:xfrm>
            <a:off x="3150000" y="1290000"/>
            <a:ext cx="244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Language</a:t>
            </a:r>
          </a:p>
        </p:txBody>
      </p:sp>
      <p:sp>
        <p:nvSpPr>
          <p:cNvPr id="8" name="Card body 1"/>
          <p:cNvSpPr txBox="1"/>
          <p:nvPr/>
        </p:nvSpPr>
        <p:spPr>
          <a:xfrm>
            <a:off x="3150000" y="1690000"/>
            <a:ext cx="2446666" cy="11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</a:rPr>
              <a:t>Python</a:t>
            </a:r>
          </a:p>
        </p:txBody>
      </p:sp>
      <p:sp>
        <p:nvSpPr>
          <p:cNvPr id="9" name="Card 2"/>
          <p:cNvSpPr/>
          <p:nvPr/>
        </p:nvSpPr>
        <p:spPr>
          <a:xfrm>
            <a:off x="5976666" y="1150000"/>
            <a:ext cx="2746666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head 2"/>
          <p:cNvSpPr txBox="1"/>
          <p:nvPr/>
        </p:nvSpPr>
        <p:spPr>
          <a:xfrm>
            <a:off x="6126666" y="1290000"/>
            <a:ext cx="244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Data handling</a:t>
            </a:r>
          </a:p>
        </p:txBody>
      </p:sp>
      <p:sp>
        <p:nvSpPr>
          <p:cNvPr id="11" name="Card body 2"/>
          <p:cNvSpPr txBox="1"/>
          <p:nvPr/>
        </p:nvSpPr>
        <p:spPr>
          <a:xfrm>
            <a:off x="6126666" y="1690000"/>
            <a:ext cx="2446666" cy="11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</a:rPr>
              <a:t>Pandas, NumPy</a:t>
            </a:r>
          </a:p>
        </p:txBody>
      </p:sp>
      <p:sp>
        <p:nvSpPr>
          <p:cNvPr id="12" name="Card 3"/>
          <p:cNvSpPr/>
          <p:nvPr/>
        </p:nvSpPr>
        <p:spPr>
          <a:xfrm>
            <a:off x="8953332" y="1150000"/>
            <a:ext cx="2746666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head 3"/>
          <p:cNvSpPr txBox="1"/>
          <p:nvPr/>
        </p:nvSpPr>
        <p:spPr>
          <a:xfrm>
            <a:off x="9103332" y="1290000"/>
            <a:ext cx="244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ML framework</a:t>
            </a:r>
          </a:p>
        </p:txBody>
      </p:sp>
      <p:sp>
        <p:nvSpPr>
          <p:cNvPr id="14" name="Card body 3"/>
          <p:cNvSpPr txBox="1"/>
          <p:nvPr/>
        </p:nvSpPr>
        <p:spPr>
          <a:xfrm>
            <a:off x="9103332" y="1690000"/>
            <a:ext cx="2446666" cy="11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</a:rPr>
              <a:t>scikit-learn</a:t>
            </a:r>
          </a:p>
        </p:txBody>
      </p:sp>
      <p:sp>
        <p:nvSpPr>
          <p:cNvPr id="15" name="Card 4"/>
          <p:cNvSpPr/>
          <p:nvPr/>
        </p:nvSpPr>
        <p:spPr>
          <a:xfrm>
            <a:off x="3000000" y="3180000"/>
            <a:ext cx="2746666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head 4"/>
          <p:cNvSpPr txBox="1"/>
          <p:nvPr/>
        </p:nvSpPr>
        <p:spPr>
          <a:xfrm>
            <a:off x="3150000" y="3320000"/>
            <a:ext cx="244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Boosting models</a:t>
            </a:r>
          </a:p>
        </p:txBody>
      </p:sp>
      <p:sp>
        <p:nvSpPr>
          <p:cNvPr id="17" name="Card body 4"/>
          <p:cNvSpPr txBox="1"/>
          <p:nvPr/>
        </p:nvSpPr>
        <p:spPr>
          <a:xfrm>
            <a:off x="3150000" y="3720000"/>
            <a:ext cx="2446666" cy="11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</a:rPr>
              <a:t>XGBoost, LightGBM</a:t>
            </a:r>
          </a:p>
        </p:txBody>
      </p:sp>
      <p:sp>
        <p:nvSpPr>
          <p:cNvPr id="18" name="Card 5"/>
          <p:cNvSpPr/>
          <p:nvPr/>
        </p:nvSpPr>
        <p:spPr>
          <a:xfrm>
            <a:off x="5976666" y="3180000"/>
            <a:ext cx="2746666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head 5"/>
          <p:cNvSpPr txBox="1"/>
          <p:nvPr/>
        </p:nvSpPr>
        <p:spPr>
          <a:xfrm>
            <a:off x="6126666" y="3320000"/>
            <a:ext cx="244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Visualization</a:t>
            </a:r>
          </a:p>
        </p:txBody>
      </p:sp>
      <p:sp>
        <p:nvSpPr>
          <p:cNvPr id="20" name="Card body 5"/>
          <p:cNvSpPr txBox="1"/>
          <p:nvPr/>
        </p:nvSpPr>
        <p:spPr>
          <a:xfrm>
            <a:off x="6126666" y="3720000"/>
            <a:ext cx="2446666" cy="11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</a:rPr>
              <a:t>Matplotlib, Seaborn</a:t>
            </a:r>
          </a:p>
        </p:txBody>
      </p:sp>
      <p:sp>
        <p:nvSpPr>
          <p:cNvPr id="21" name="Card 6"/>
          <p:cNvSpPr/>
          <p:nvPr/>
        </p:nvSpPr>
        <p:spPr>
          <a:xfrm>
            <a:off x="8953332" y="3180000"/>
            <a:ext cx="2746666" cy="1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head 6"/>
          <p:cNvSpPr txBox="1"/>
          <p:nvPr/>
        </p:nvSpPr>
        <p:spPr>
          <a:xfrm>
            <a:off x="9103332" y="3320000"/>
            <a:ext cx="244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Environment</a:t>
            </a:r>
          </a:p>
        </p:txBody>
      </p:sp>
      <p:sp>
        <p:nvSpPr>
          <p:cNvPr id="23" name="Card body 6"/>
          <p:cNvSpPr txBox="1"/>
          <p:nvPr/>
        </p:nvSpPr>
        <p:spPr>
          <a:xfrm>
            <a:off x="9103332" y="3720000"/>
            <a:ext cx="2446666" cy="11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262626"/>
                </a:solidFill>
              </a:rPr>
              <a:t>Jupyter Notebook / Google Colab / VS Code</a:t>
            </a:r>
          </a:p>
        </p:txBody>
      </p:sp>
      <p:sp>
        <p:nvSpPr>
          <p:cNvPr id="24" name="Stack note"/>
          <p:cNvSpPr txBox="1"/>
          <p:nvPr/>
        </p:nvSpPr>
        <p:spPr>
          <a:xfrm>
            <a:off x="3000000" y="5150000"/>
            <a:ext cx="8700000" cy="6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</a:rPr>
              <a:t>Database/cloud deployment is not established in the supplied experiment notebooks.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2896000" y="221673"/>
            <a:ext cx="6400000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System Modules / Components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11</a:t>
            </a:r>
          </a:p>
        </p:txBody>
      </p:sp>
      <p:sp>
        <p:nvSpPr>
          <p:cNvPr id="6" name="Card 1"/>
          <p:cNvSpPr/>
          <p:nvPr/>
        </p:nvSpPr>
        <p:spPr>
          <a:xfrm>
            <a:off x="3000000" y="1150000"/>
            <a:ext cx="2746666" cy="2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head 1"/>
          <p:cNvSpPr txBox="1"/>
          <p:nvPr/>
        </p:nvSpPr>
        <p:spPr>
          <a:xfrm>
            <a:off x="3150000" y="1290000"/>
            <a:ext cx="244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</a:rPr>
              <a:t>Data ingestion</a:t>
            </a:r>
          </a:p>
        </p:txBody>
      </p:sp>
      <p:sp>
        <p:nvSpPr>
          <p:cNvPr id="8" name="Card body 1"/>
          <p:cNvSpPr txBox="1"/>
          <p:nvPr/>
        </p:nvSpPr>
        <p:spPr>
          <a:xfrm>
            <a:off x="3150000" y="1690000"/>
            <a:ext cx="2446666" cy="151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Load the CSV and verify shape, columns and types.</a:t>
            </a:r>
          </a:p>
        </p:txBody>
      </p:sp>
      <p:sp>
        <p:nvSpPr>
          <p:cNvPr id="9" name="Card 2"/>
          <p:cNvSpPr/>
          <p:nvPr/>
        </p:nvSpPr>
        <p:spPr>
          <a:xfrm>
            <a:off x="5976666" y="1150000"/>
            <a:ext cx="2746666" cy="2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head 2"/>
          <p:cNvSpPr txBox="1"/>
          <p:nvPr/>
        </p:nvSpPr>
        <p:spPr>
          <a:xfrm>
            <a:off x="6126666" y="1290000"/>
            <a:ext cx="244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</a:rPr>
              <a:t>Data quality</a:t>
            </a:r>
          </a:p>
        </p:txBody>
      </p:sp>
      <p:sp>
        <p:nvSpPr>
          <p:cNvPr id="11" name="Card body 2"/>
          <p:cNvSpPr txBox="1"/>
          <p:nvPr/>
        </p:nvSpPr>
        <p:spPr>
          <a:xfrm>
            <a:off x="6126666" y="1690000"/>
            <a:ext cx="2446666" cy="151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Check nulls, duplicates and inconsistent labels.</a:t>
            </a:r>
          </a:p>
        </p:txBody>
      </p:sp>
      <p:sp>
        <p:nvSpPr>
          <p:cNvPr id="12" name="Card 3"/>
          <p:cNvSpPr/>
          <p:nvPr/>
        </p:nvSpPr>
        <p:spPr>
          <a:xfrm>
            <a:off x="8953332" y="1150000"/>
            <a:ext cx="2746666" cy="2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head 3"/>
          <p:cNvSpPr txBox="1"/>
          <p:nvPr/>
        </p:nvSpPr>
        <p:spPr>
          <a:xfrm>
            <a:off x="9103332" y="1290000"/>
            <a:ext cx="244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</a:rPr>
              <a:t>EDA</a:t>
            </a:r>
          </a:p>
        </p:txBody>
      </p:sp>
      <p:sp>
        <p:nvSpPr>
          <p:cNvPr id="14" name="Card body 3"/>
          <p:cNvSpPr txBox="1"/>
          <p:nvPr/>
        </p:nvSpPr>
        <p:spPr>
          <a:xfrm>
            <a:off x="9103332" y="1690000"/>
            <a:ext cx="2446666" cy="151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Study distributions, approval rates, correlations and outliers.</a:t>
            </a:r>
          </a:p>
        </p:txBody>
      </p:sp>
      <p:sp>
        <p:nvSpPr>
          <p:cNvPr id="15" name="Card 4"/>
          <p:cNvSpPr/>
          <p:nvPr/>
        </p:nvSpPr>
        <p:spPr>
          <a:xfrm>
            <a:off x="3000000" y="3530000"/>
            <a:ext cx="2746666" cy="2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head 4"/>
          <p:cNvSpPr txBox="1"/>
          <p:nvPr/>
        </p:nvSpPr>
        <p:spPr>
          <a:xfrm>
            <a:off x="3150000" y="3670000"/>
            <a:ext cx="244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</a:rPr>
              <a:t>Preprocessing</a:t>
            </a:r>
          </a:p>
        </p:txBody>
      </p:sp>
      <p:sp>
        <p:nvSpPr>
          <p:cNvPr id="17" name="Card body 4"/>
          <p:cNvSpPr txBox="1"/>
          <p:nvPr/>
        </p:nvSpPr>
        <p:spPr>
          <a:xfrm>
            <a:off x="3150000" y="4070000"/>
            <a:ext cx="2446666" cy="151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Impute missing values, encode categories and scale if required by model.</a:t>
            </a:r>
          </a:p>
        </p:txBody>
      </p:sp>
      <p:sp>
        <p:nvSpPr>
          <p:cNvPr id="18" name="Card 5"/>
          <p:cNvSpPr/>
          <p:nvPr/>
        </p:nvSpPr>
        <p:spPr>
          <a:xfrm>
            <a:off x="5976666" y="3530000"/>
            <a:ext cx="2746666" cy="2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head 5"/>
          <p:cNvSpPr txBox="1"/>
          <p:nvPr/>
        </p:nvSpPr>
        <p:spPr>
          <a:xfrm>
            <a:off x="6126666" y="3670000"/>
            <a:ext cx="244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</a:rPr>
              <a:t>Model training</a:t>
            </a:r>
          </a:p>
        </p:txBody>
      </p:sp>
      <p:sp>
        <p:nvSpPr>
          <p:cNvPr id="20" name="Card body 5"/>
          <p:cNvSpPr txBox="1"/>
          <p:nvPr/>
        </p:nvSpPr>
        <p:spPr>
          <a:xfrm>
            <a:off x="6126666" y="4070000"/>
            <a:ext cx="2446666" cy="151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Fit Random Forest, XGBoost and LightGBM.</a:t>
            </a:r>
          </a:p>
        </p:txBody>
      </p:sp>
      <p:sp>
        <p:nvSpPr>
          <p:cNvPr id="21" name="Card 6"/>
          <p:cNvSpPr/>
          <p:nvPr/>
        </p:nvSpPr>
        <p:spPr>
          <a:xfrm>
            <a:off x="8953332" y="3530000"/>
            <a:ext cx="2746666" cy="2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head 6"/>
          <p:cNvSpPr txBox="1"/>
          <p:nvPr/>
        </p:nvSpPr>
        <p:spPr>
          <a:xfrm>
            <a:off x="9103332" y="3670000"/>
            <a:ext cx="244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</a:rPr>
              <a:t>Evaluation</a:t>
            </a:r>
          </a:p>
        </p:txBody>
      </p:sp>
      <p:sp>
        <p:nvSpPr>
          <p:cNvPr id="23" name="Card body 6"/>
          <p:cNvSpPr txBox="1"/>
          <p:nvPr/>
        </p:nvSpPr>
        <p:spPr>
          <a:xfrm>
            <a:off x="9103332" y="4070000"/>
            <a:ext cx="2446666" cy="151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Compare accuracy, precision, recall, F1-score and confusion matrices.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Implementation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12</a:t>
            </a:r>
          </a:p>
        </p:txBody>
      </p:sp>
      <p:sp>
        <p:nvSpPr>
          <p:cNvPr id="6" name="Row 1"/>
          <p:cNvSpPr/>
          <p:nvPr/>
        </p:nvSpPr>
        <p:spPr>
          <a:xfrm>
            <a:off x="3000000" y="1150000"/>
            <a:ext cx="8700000" cy="7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1"/>
          <p:cNvSpPr/>
          <p:nvPr/>
        </p:nvSpPr>
        <p:spPr>
          <a:xfrm>
            <a:off x="3160000" y="1314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w text 1"/>
          <p:cNvSpPr txBox="1"/>
          <p:nvPr/>
        </p:nvSpPr>
        <p:spPr>
          <a:xfrm>
            <a:off x="3760000" y="1150000"/>
            <a:ext cx="7760000" cy="74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Load the dataset using Pandas and inspect shape, columns, data types and summary statistics.</a:t>
            </a:r>
          </a:p>
        </p:txBody>
      </p:sp>
      <p:sp>
        <p:nvSpPr>
          <p:cNvPr id="9" name="Row 2"/>
          <p:cNvSpPr/>
          <p:nvPr/>
        </p:nvSpPr>
        <p:spPr>
          <a:xfrm>
            <a:off x="3000000" y="2008000"/>
            <a:ext cx="8700000" cy="7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dge 2"/>
          <p:cNvSpPr/>
          <p:nvPr/>
        </p:nvSpPr>
        <p:spPr>
          <a:xfrm>
            <a:off x="3160000" y="2172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ow text 2"/>
          <p:cNvSpPr txBox="1"/>
          <p:nvPr/>
        </p:nvSpPr>
        <p:spPr>
          <a:xfrm>
            <a:off x="3760000" y="2008000"/>
            <a:ext cx="7760000" cy="74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Calculate missing-value counts and percentages; check duplicate rows and the target distribution.</a:t>
            </a:r>
          </a:p>
        </p:txBody>
      </p:sp>
      <p:sp>
        <p:nvSpPr>
          <p:cNvPr id="12" name="Row 3"/>
          <p:cNvSpPr/>
          <p:nvPr/>
        </p:nvSpPr>
        <p:spPr>
          <a:xfrm>
            <a:off x="3000000" y="2866000"/>
            <a:ext cx="8700000" cy="7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dge 3"/>
          <p:cNvSpPr/>
          <p:nvPr/>
        </p:nvSpPr>
        <p:spPr>
          <a:xfrm>
            <a:off x="3160000" y="3030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ow text 3"/>
          <p:cNvSpPr txBox="1"/>
          <p:nvPr/>
        </p:nvSpPr>
        <p:spPr>
          <a:xfrm>
            <a:off x="3760000" y="2866000"/>
            <a:ext cx="7760000" cy="74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Use EDA plots to inspect numeric distributions, categorical approval rates, correlations and outliers.</a:t>
            </a:r>
          </a:p>
        </p:txBody>
      </p:sp>
      <p:sp>
        <p:nvSpPr>
          <p:cNvPr id="15" name="Row 4"/>
          <p:cNvSpPr/>
          <p:nvPr/>
        </p:nvSpPr>
        <p:spPr>
          <a:xfrm>
            <a:off x="3000000" y="3724000"/>
            <a:ext cx="8700000" cy="7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dge 4"/>
          <p:cNvSpPr/>
          <p:nvPr/>
        </p:nvSpPr>
        <p:spPr>
          <a:xfrm>
            <a:off x="3160000" y="3888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w text 4"/>
          <p:cNvSpPr txBox="1"/>
          <p:nvPr/>
        </p:nvSpPr>
        <p:spPr>
          <a:xfrm>
            <a:off x="3760000" y="3724000"/>
            <a:ext cx="7760000" cy="74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Prepare a preprocessing pipeline so imputing/encoding is learned from training data only.</a:t>
            </a:r>
          </a:p>
        </p:txBody>
      </p:sp>
      <p:sp>
        <p:nvSpPr>
          <p:cNvPr id="18" name="Row 5"/>
          <p:cNvSpPr/>
          <p:nvPr/>
        </p:nvSpPr>
        <p:spPr>
          <a:xfrm>
            <a:off x="3000000" y="4582000"/>
            <a:ext cx="8700000" cy="7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dge 5"/>
          <p:cNvSpPr/>
          <p:nvPr/>
        </p:nvSpPr>
        <p:spPr>
          <a:xfrm>
            <a:off x="3160000" y="4746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Row text 5"/>
          <p:cNvSpPr txBox="1"/>
          <p:nvPr/>
        </p:nvSpPr>
        <p:spPr>
          <a:xfrm>
            <a:off x="3760000" y="4582000"/>
            <a:ext cx="7760000" cy="74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Train and evaluate each model on the same held-out test set; record results in a comparison table.</a:t>
            </a:r>
          </a:p>
        </p:txBody>
      </p:sp>
      <p:sp>
        <p:nvSpPr>
          <p:cNvPr id="21" name="Note"/>
          <p:cNvSpPr/>
          <p:nvPr/>
        </p:nvSpPr>
        <p:spPr>
          <a:xfrm>
            <a:off x="3000000" y="5500000"/>
            <a:ext cx="8700000" cy="6400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Implementation status reflected by supplied notebooks: Experiment 1 = data understanding; Experiment 2 = EDA.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Dataset / Input Data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13</a:t>
            </a:r>
          </a:p>
        </p:txBody>
      </p:sp>
      <p:sp>
        <p:nvSpPr>
          <p:cNvPr id="6" name="Stat card 1"/>
          <p:cNvSpPr/>
          <p:nvPr/>
        </p:nvSpPr>
        <p:spPr>
          <a:xfrm>
            <a:off x="3000000" y="1150000"/>
            <a:ext cx="2746666" cy="1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 label 1"/>
          <p:cNvSpPr txBox="1"/>
          <p:nvPr/>
        </p:nvSpPr>
        <p:spPr>
          <a:xfrm>
            <a:off x="3000000" y="1260000"/>
            <a:ext cx="2746666" cy="28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6B6B6B"/>
                </a:solidFill>
              </a:rPr>
              <a:t>RECORDS</a:t>
            </a:r>
          </a:p>
        </p:txBody>
      </p:sp>
      <p:sp>
        <p:nvSpPr>
          <p:cNvPr id="8" name="Stat value 1"/>
          <p:cNvSpPr txBox="1"/>
          <p:nvPr/>
        </p:nvSpPr>
        <p:spPr>
          <a:xfrm>
            <a:off x="3000000" y="1550000"/>
            <a:ext cx="2746666" cy="60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3000" b="1" i="0">
                <a:solidFill>
                  <a:srgbClr val="C00000"/>
                </a:solidFill>
              </a:rPr>
              <a:t>20,000</a:t>
            </a:r>
          </a:p>
        </p:txBody>
      </p:sp>
      <p:sp>
        <p:nvSpPr>
          <p:cNvPr id="9" name="Stat caption 1"/>
          <p:cNvSpPr txBox="1"/>
          <p:nvPr/>
        </p:nvSpPr>
        <p:spPr>
          <a:xfrm>
            <a:off x="3000000" y="2200000"/>
            <a:ext cx="2746666" cy="3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</a:rPr>
              <a:t>loan applications</a:t>
            </a:r>
          </a:p>
        </p:txBody>
      </p:sp>
      <p:sp>
        <p:nvSpPr>
          <p:cNvPr id="10" name="Stat card 2"/>
          <p:cNvSpPr/>
          <p:nvPr/>
        </p:nvSpPr>
        <p:spPr>
          <a:xfrm>
            <a:off x="5976666" y="1150000"/>
            <a:ext cx="2746666" cy="1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t label 2"/>
          <p:cNvSpPr txBox="1"/>
          <p:nvPr/>
        </p:nvSpPr>
        <p:spPr>
          <a:xfrm>
            <a:off x="5976666" y="1260000"/>
            <a:ext cx="2746666" cy="28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6B6B6B"/>
                </a:solidFill>
              </a:rPr>
              <a:t>COLUMNS</a:t>
            </a:r>
          </a:p>
        </p:txBody>
      </p:sp>
      <p:sp>
        <p:nvSpPr>
          <p:cNvPr id="12" name="Stat value 2"/>
          <p:cNvSpPr txBox="1"/>
          <p:nvPr/>
        </p:nvSpPr>
        <p:spPr>
          <a:xfrm>
            <a:off x="5976666" y="1550000"/>
            <a:ext cx="2746666" cy="60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3000" b="1" i="0">
                <a:solidFill>
                  <a:srgbClr val="C00000"/>
                </a:solidFill>
              </a:rPr>
              <a:t>39</a:t>
            </a:r>
          </a:p>
        </p:txBody>
      </p:sp>
      <p:sp>
        <p:nvSpPr>
          <p:cNvPr id="13" name="Stat caption 2"/>
          <p:cNvSpPr txBox="1"/>
          <p:nvPr/>
        </p:nvSpPr>
        <p:spPr>
          <a:xfrm>
            <a:off x="5976666" y="2200000"/>
            <a:ext cx="2746666" cy="3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</a:rPr>
              <a:t>total columns</a:t>
            </a:r>
          </a:p>
        </p:txBody>
      </p:sp>
      <p:sp>
        <p:nvSpPr>
          <p:cNvPr id="14" name="Stat card 3"/>
          <p:cNvSpPr/>
          <p:nvPr/>
        </p:nvSpPr>
        <p:spPr>
          <a:xfrm>
            <a:off x="8953332" y="1150000"/>
            <a:ext cx="2746666" cy="1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 label 3"/>
          <p:cNvSpPr txBox="1"/>
          <p:nvPr/>
        </p:nvSpPr>
        <p:spPr>
          <a:xfrm>
            <a:off x="8953332" y="1260000"/>
            <a:ext cx="2746666" cy="28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6B6B6B"/>
                </a:solidFill>
              </a:rPr>
              <a:t>TARGET</a:t>
            </a:r>
          </a:p>
        </p:txBody>
      </p:sp>
      <p:sp>
        <p:nvSpPr>
          <p:cNvPr id="16" name="Stat value 3"/>
          <p:cNvSpPr txBox="1"/>
          <p:nvPr/>
        </p:nvSpPr>
        <p:spPr>
          <a:xfrm>
            <a:off x="8953332" y="1550000"/>
            <a:ext cx="2746666" cy="60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C00000"/>
                </a:solidFill>
              </a:rPr>
              <a:t>Loan_Status</a:t>
            </a:r>
          </a:p>
        </p:txBody>
      </p:sp>
      <p:sp>
        <p:nvSpPr>
          <p:cNvPr id="17" name="Stat caption 3"/>
          <p:cNvSpPr txBox="1"/>
          <p:nvPr/>
        </p:nvSpPr>
        <p:spPr>
          <a:xfrm>
            <a:off x="8953332" y="2200000"/>
            <a:ext cx="2746666" cy="3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262626"/>
                </a:solidFill>
              </a:rPr>
              <a:t>Approved / Rejected</a:t>
            </a:r>
          </a:p>
        </p:txBody>
      </p:sp>
      <p:sp>
        <p:nvSpPr>
          <p:cNvPr id="18" name="Features panel"/>
          <p:cNvSpPr/>
          <p:nvPr/>
        </p:nvSpPr>
        <p:spPr>
          <a:xfrm>
            <a:off x="3000000" y="2880000"/>
            <a:ext cx="4235000" cy="33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eatures head"/>
          <p:cNvSpPr txBox="1"/>
          <p:nvPr/>
        </p:nvSpPr>
        <p:spPr>
          <a:xfrm>
            <a:off x="3150000" y="3000000"/>
            <a:ext cx="3935000" cy="3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</a:rPr>
              <a:t>Representative input features</a:t>
            </a:r>
          </a:p>
        </p:txBody>
      </p:sp>
      <p:sp>
        <p:nvSpPr>
          <p:cNvPr id="20" name="Features list"/>
          <p:cNvSpPr txBox="1"/>
          <p:nvPr/>
        </p:nvSpPr>
        <p:spPr>
          <a:xfrm>
            <a:off x="3150000" y="3400000"/>
            <a:ext cx="3935000" cy="272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2626"/>
                </a:solidFill>
              </a:rPr>
              <a:t>Age • Monthly_Income • Annual_Income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2626"/>
                </a:solidFill>
              </a:rPr>
              <a:t>Credit_Score • Existing_Loans • Monthly_EMI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2626"/>
                </a:solidFill>
              </a:rPr>
              <a:t>Loan_Amount • Loan_Tenure • Interest_Rate</a:t>
            </a:r>
          </a:p>
          <a:p>
            <a:pPr algn="l"/>
            <a:r>
              <a:rPr sz="1600" b="0" i="0">
                <a:solidFill>
                  <a:srgbClr val="262626"/>
                </a:solidFill>
              </a:rPr>
              <a:t>Employment_Type • Education • Loan_Purpose</a:t>
            </a:r>
          </a:p>
        </p:txBody>
      </p:sp>
      <p:sp>
        <p:nvSpPr>
          <p:cNvPr id="21" name="Quality panel"/>
          <p:cNvSpPr/>
          <p:nvPr/>
        </p:nvSpPr>
        <p:spPr>
          <a:xfrm>
            <a:off x="7465000" y="2880000"/>
            <a:ext cx="4235000" cy="33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Quality head"/>
          <p:cNvSpPr txBox="1"/>
          <p:nvPr/>
        </p:nvSpPr>
        <p:spPr>
          <a:xfrm>
            <a:off x="7615000" y="3000000"/>
            <a:ext cx="3935000" cy="3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</a:rPr>
              <a:t>Data quality observations</a:t>
            </a:r>
          </a:p>
        </p:txBody>
      </p:sp>
      <p:sp>
        <p:nvSpPr>
          <p:cNvPr id="23" name="Quality list"/>
          <p:cNvSpPr txBox="1"/>
          <p:nvPr/>
        </p:nvSpPr>
        <p:spPr>
          <a:xfrm>
            <a:off x="7615000" y="3400000"/>
            <a:ext cx="3935000" cy="272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62626"/>
                </a:solidFill>
              </a:rPr>
              <a:t>Duplicate rows: </a:t>
            </a:r>
            <a:r>
              <a:rPr sz="1600" b="1" i="0">
                <a:solidFill>
                  <a:srgbClr val="C00000"/>
                </a:solidFill>
              </a:rPr>
              <a:t>0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62626"/>
                </a:solidFill>
              </a:rPr>
              <a:t>Fields with missing values: </a:t>
            </a:r>
            <a:r>
              <a:rPr sz="1600" b="1" i="0">
                <a:solidFill>
                  <a:srgbClr val="C00000"/>
                </a:solidFill>
              </a:rPr>
              <a:t>9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62626"/>
                </a:solidFill>
              </a:rPr>
              <a:t>Examples: Property_Value, Loan_to_Value, Collateral_Value, Other_Income, Investments</a:t>
            </a:r>
          </a:p>
          <a:p>
            <a:pPr algn="l"/>
            <a:r>
              <a:rPr sz="1600" b="0" i="0">
                <a:solidFill>
                  <a:srgbClr val="262626"/>
                </a:solidFill>
              </a:rPr>
              <a:t>Application_ID is an identifier and should not be used as a predictive feature.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Algorithm / Model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14</a:t>
            </a:r>
          </a:p>
        </p:txBody>
      </p:sp>
      <p:sp>
        <p:nvSpPr>
          <p:cNvPr id="6" name="Card 1"/>
          <p:cNvSpPr/>
          <p:nvPr/>
        </p:nvSpPr>
        <p:spPr>
          <a:xfrm>
            <a:off x="3000000" y="1150000"/>
            <a:ext cx="2746666" cy="3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1"/>
          <p:cNvSpPr/>
          <p:nvPr/>
        </p:nvSpPr>
        <p:spPr>
          <a:xfrm>
            <a:off x="3150000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Card head 1"/>
          <p:cNvSpPr txBox="1"/>
          <p:nvPr/>
        </p:nvSpPr>
        <p:spPr>
          <a:xfrm>
            <a:off x="3570000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RANDOM FOREST</a:t>
            </a:r>
          </a:p>
        </p:txBody>
      </p:sp>
      <p:sp>
        <p:nvSpPr>
          <p:cNvPr id="9" name="Card body 1"/>
          <p:cNvSpPr txBox="1"/>
          <p:nvPr/>
        </p:nvSpPr>
        <p:spPr>
          <a:xfrm>
            <a:off x="3150000" y="1720000"/>
            <a:ext cx="2446666" cy="23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Combines many decision trees trained on bootstrapped samples; averages/votes to improve robustness and reduce variance.</a:t>
            </a:r>
          </a:p>
        </p:txBody>
      </p:sp>
      <p:sp>
        <p:nvSpPr>
          <p:cNvPr id="10" name="Card 2"/>
          <p:cNvSpPr/>
          <p:nvPr/>
        </p:nvSpPr>
        <p:spPr>
          <a:xfrm>
            <a:off x="5976666" y="1150000"/>
            <a:ext cx="2746666" cy="3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dge 2"/>
          <p:cNvSpPr/>
          <p:nvPr/>
        </p:nvSpPr>
        <p:spPr>
          <a:xfrm>
            <a:off x="6126666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Card head 2"/>
          <p:cNvSpPr txBox="1"/>
          <p:nvPr/>
        </p:nvSpPr>
        <p:spPr>
          <a:xfrm>
            <a:off x="6546666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XGBOOST</a:t>
            </a:r>
          </a:p>
        </p:txBody>
      </p:sp>
      <p:sp>
        <p:nvSpPr>
          <p:cNvPr id="13" name="Card body 2"/>
          <p:cNvSpPr txBox="1"/>
          <p:nvPr/>
        </p:nvSpPr>
        <p:spPr>
          <a:xfrm>
            <a:off x="6126666" y="1720000"/>
            <a:ext cx="2446666" cy="23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Gradient-boosted trees optimize a loss function sequentially and include regularization for predictive performance.</a:t>
            </a:r>
          </a:p>
        </p:txBody>
      </p:sp>
      <p:sp>
        <p:nvSpPr>
          <p:cNvPr id="14" name="Card 3"/>
          <p:cNvSpPr/>
          <p:nvPr/>
        </p:nvSpPr>
        <p:spPr>
          <a:xfrm>
            <a:off x="8953332" y="1150000"/>
            <a:ext cx="2746666" cy="30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dge 3"/>
          <p:cNvSpPr/>
          <p:nvPr/>
        </p:nvSpPr>
        <p:spPr>
          <a:xfrm>
            <a:off x="9103332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Card head 3"/>
          <p:cNvSpPr txBox="1"/>
          <p:nvPr/>
        </p:nvSpPr>
        <p:spPr>
          <a:xfrm>
            <a:off x="9523332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LIGHTGBM</a:t>
            </a:r>
          </a:p>
        </p:txBody>
      </p:sp>
      <p:sp>
        <p:nvSpPr>
          <p:cNvPr id="17" name="Card body 3"/>
          <p:cNvSpPr txBox="1"/>
          <p:nvPr/>
        </p:nvSpPr>
        <p:spPr>
          <a:xfrm>
            <a:off x="9103332" y="1720000"/>
            <a:ext cx="2446666" cy="23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Gradient boosting designed for efficient training on tabular data using histogram-based learning and leaf-wise tree growth.</a:t>
            </a:r>
          </a:p>
        </p:txBody>
      </p:sp>
      <p:sp>
        <p:nvSpPr>
          <p:cNvPr id="18" name="Note"/>
          <p:cNvSpPr/>
          <p:nvPr/>
        </p:nvSpPr>
        <p:spPr>
          <a:xfrm>
            <a:off x="3000000" y="4450000"/>
            <a:ext cx="8700000" cy="13500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Why compare them? All are tree-ensemble methods, but they learn patterns differently. The best model must be selected from measured validation/test results—not assumed in advance.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Results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15</a:t>
            </a:r>
          </a:p>
        </p:txBody>
      </p:sp>
      <p:sp>
        <p:nvSpPr>
          <p:cNvPr id="6" name="Card 1"/>
          <p:cNvSpPr/>
          <p:nvPr/>
        </p:nvSpPr>
        <p:spPr>
          <a:xfrm>
            <a:off x="3000000" y="1150000"/>
            <a:ext cx="2746666" cy="2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1"/>
          <p:cNvSpPr/>
          <p:nvPr/>
        </p:nvSpPr>
        <p:spPr>
          <a:xfrm>
            <a:off x="3150000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Card head 1"/>
          <p:cNvSpPr txBox="1"/>
          <p:nvPr/>
        </p:nvSpPr>
        <p:spPr>
          <a:xfrm>
            <a:off x="3570000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DATA UNDERSTANDING</a:t>
            </a:r>
          </a:p>
        </p:txBody>
      </p:sp>
      <p:sp>
        <p:nvSpPr>
          <p:cNvPr id="9" name="Card body 1"/>
          <p:cNvSpPr txBox="1"/>
          <p:nvPr/>
        </p:nvSpPr>
        <p:spPr>
          <a:xfrm>
            <a:off x="3150000" y="1720000"/>
            <a:ext cx="2446666" cy="18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20,000 records • 39 columns • target: Loan_Status</a:t>
            </a:r>
          </a:p>
        </p:txBody>
      </p:sp>
      <p:sp>
        <p:nvSpPr>
          <p:cNvPr id="10" name="Card 2"/>
          <p:cNvSpPr/>
          <p:nvPr/>
        </p:nvSpPr>
        <p:spPr>
          <a:xfrm>
            <a:off x="5976666" y="1150000"/>
            <a:ext cx="2746666" cy="2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dge 2"/>
          <p:cNvSpPr/>
          <p:nvPr/>
        </p:nvSpPr>
        <p:spPr>
          <a:xfrm>
            <a:off x="6126666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Card head 2"/>
          <p:cNvSpPr txBox="1"/>
          <p:nvPr/>
        </p:nvSpPr>
        <p:spPr>
          <a:xfrm>
            <a:off x="6546666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DATA QUALITY</a:t>
            </a:r>
          </a:p>
        </p:txBody>
      </p:sp>
      <p:sp>
        <p:nvSpPr>
          <p:cNvPr id="13" name="Card body 2"/>
          <p:cNvSpPr txBox="1"/>
          <p:nvPr/>
        </p:nvSpPr>
        <p:spPr>
          <a:xfrm>
            <a:off x="6126666" y="1720000"/>
            <a:ext cx="2446666" cy="18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9 columns have missing values; duplicate rows: 0.</a:t>
            </a:r>
          </a:p>
        </p:txBody>
      </p:sp>
      <p:sp>
        <p:nvSpPr>
          <p:cNvPr id="14" name="Card 3"/>
          <p:cNvSpPr/>
          <p:nvPr/>
        </p:nvSpPr>
        <p:spPr>
          <a:xfrm>
            <a:off x="8953332" y="1150000"/>
            <a:ext cx="2746666" cy="2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dge 3"/>
          <p:cNvSpPr/>
          <p:nvPr/>
        </p:nvSpPr>
        <p:spPr>
          <a:xfrm>
            <a:off x="9103332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Card head 3"/>
          <p:cNvSpPr txBox="1"/>
          <p:nvPr/>
        </p:nvSpPr>
        <p:spPr>
          <a:xfrm>
            <a:off x="9523332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MODEL METRICS</a:t>
            </a:r>
          </a:p>
        </p:txBody>
      </p:sp>
      <p:sp>
        <p:nvSpPr>
          <p:cNvPr id="17" name="Card body 3"/>
          <p:cNvSpPr txBox="1"/>
          <p:nvPr/>
        </p:nvSpPr>
        <p:spPr>
          <a:xfrm>
            <a:off x="9103332" y="1720000"/>
            <a:ext cx="2446666" cy="18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Accuracy, precision, recall, F1-score and confusion matrix should be reported after model evaluation.</a:t>
            </a:r>
          </a:p>
        </p:txBody>
      </p:sp>
      <p:sp>
        <p:nvSpPr>
          <p:cNvPr id="18" name="Note"/>
          <p:cNvSpPr/>
          <p:nvPr/>
        </p:nvSpPr>
        <p:spPr>
          <a:xfrm>
            <a:off x="3000000" y="3900000"/>
            <a:ext cx="8700000" cy="13000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pPr algn="l"/>
            <a:r>
              <a:rPr sz="1700" b="1" i="0">
                <a:solidFill>
                  <a:srgbClr val="C00000"/>
                </a:solidFill>
              </a:rPr>
              <a:t>The uploaded notebooks contain data understanding and EDA. They do not provide trained-model metrics, so no accuracy or winning model is claimed in this presentation.</a:t>
            </a:r>
          </a:p>
        </p:txBody>
      </p:sp>
      <p:sp>
        <p:nvSpPr>
          <p:cNvPr id="19" name="Results note"/>
          <p:cNvSpPr txBox="1"/>
          <p:nvPr/>
        </p:nvSpPr>
        <p:spPr>
          <a:xfrm>
            <a:off x="3000000" y="5400000"/>
            <a:ext cx="8700000" cy="5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</a:rPr>
              <a:t>Recommended comparison: evaluate all three models on the same held-out test set.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Screenshots / Demo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16</a:t>
            </a:r>
          </a:p>
        </p:txBody>
      </p:sp>
      <p:sp>
        <p:nvSpPr>
          <p:cNvPr id="6" name="Shot frame 1"/>
          <p:cNvSpPr/>
          <p:nvPr/>
        </p:nvSpPr>
        <p:spPr>
          <a:xfrm>
            <a:off x="3000000" y="1100000"/>
            <a:ext cx="4235000" cy="2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hot caption 1"/>
          <p:cNvSpPr txBox="1"/>
          <p:nvPr/>
        </p:nvSpPr>
        <p:spPr>
          <a:xfrm>
            <a:off x="3000000" y="1150000"/>
            <a:ext cx="4235000" cy="30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</a:rPr>
              <a:t>Loan status distribution</a:t>
            </a:r>
          </a:p>
        </p:txBody>
      </p:sp>
      <p:pic>
        <p:nvPicPr>
          <p:cNvPr id="8" name="Loan status distribution" descr="Loan status distrib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833" y="1470000"/>
            <a:ext cx="3183333" cy="1910000"/>
          </a:xfrm>
          <a:prstGeom prst="rect">
            <a:avLst/>
          </a:prstGeom>
        </p:spPr>
      </p:pic>
      <p:sp>
        <p:nvSpPr>
          <p:cNvPr id="9" name="Shot frame 2"/>
          <p:cNvSpPr/>
          <p:nvPr/>
        </p:nvSpPr>
        <p:spPr>
          <a:xfrm>
            <a:off x="7465000" y="1100000"/>
            <a:ext cx="4235000" cy="2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hot caption 2"/>
          <p:cNvSpPr txBox="1"/>
          <p:nvPr/>
        </p:nvSpPr>
        <p:spPr>
          <a:xfrm>
            <a:off x="7465000" y="1150000"/>
            <a:ext cx="4235000" cy="30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</a:rPr>
              <a:t>Missing values</a:t>
            </a:r>
          </a:p>
        </p:txBody>
      </p:sp>
      <p:pic>
        <p:nvPicPr>
          <p:cNvPr id="11" name="Missing values" descr="Missing valu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722" y="1470000"/>
            <a:ext cx="3395555" cy="1909999"/>
          </a:xfrm>
          <a:prstGeom prst="rect">
            <a:avLst/>
          </a:prstGeom>
        </p:spPr>
      </p:pic>
      <p:sp>
        <p:nvSpPr>
          <p:cNvPr id="12" name="Shot frame 3"/>
          <p:cNvSpPr/>
          <p:nvPr/>
        </p:nvSpPr>
        <p:spPr>
          <a:xfrm>
            <a:off x="3000000" y="3600000"/>
            <a:ext cx="4235000" cy="2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hot caption 3"/>
          <p:cNvSpPr txBox="1"/>
          <p:nvPr/>
        </p:nvSpPr>
        <p:spPr>
          <a:xfrm>
            <a:off x="3000000" y="3650000"/>
            <a:ext cx="4235000" cy="30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</a:rPr>
              <a:t>Numerical distributions</a:t>
            </a:r>
          </a:p>
        </p:txBody>
      </p:sp>
      <p:pic>
        <p:nvPicPr>
          <p:cNvPr id="14" name="Numerical distributions" descr="Numerical distribu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833" y="3970000"/>
            <a:ext cx="3183333" cy="1910000"/>
          </a:xfrm>
          <a:prstGeom prst="rect">
            <a:avLst/>
          </a:prstGeom>
        </p:spPr>
      </p:pic>
      <p:sp>
        <p:nvSpPr>
          <p:cNvPr id="15" name="Shot frame 4"/>
          <p:cNvSpPr/>
          <p:nvPr/>
        </p:nvSpPr>
        <p:spPr>
          <a:xfrm>
            <a:off x="7465000" y="3600000"/>
            <a:ext cx="4235000" cy="23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hot caption 4"/>
          <p:cNvSpPr txBox="1"/>
          <p:nvPr/>
        </p:nvSpPr>
        <p:spPr>
          <a:xfrm>
            <a:off x="7465000" y="3650000"/>
            <a:ext cx="4235000" cy="30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</a:rPr>
              <a:t>Approval by employment</a:t>
            </a:r>
          </a:p>
        </p:txBody>
      </p:sp>
      <p:pic>
        <p:nvPicPr>
          <p:cNvPr id="17" name="Approval by employment" descr="Approval by employme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0833" y="3970000"/>
            <a:ext cx="3183333" cy="191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Advantages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17</a:t>
            </a:r>
          </a:p>
        </p:txBody>
      </p:sp>
      <p:sp>
        <p:nvSpPr>
          <p:cNvPr id="6" name="Row 1"/>
          <p:cNvSpPr/>
          <p:nvPr/>
        </p:nvSpPr>
        <p:spPr>
          <a:xfrm>
            <a:off x="3000000" y="1150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✓"/>
          <p:cNvSpPr/>
          <p:nvPr/>
        </p:nvSpPr>
        <p:spPr>
          <a:xfrm>
            <a:off x="3160000" y="1359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Row text 1"/>
          <p:cNvSpPr txBox="1"/>
          <p:nvPr/>
        </p:nvSpPr>
        <p:spPr>
          <a:xfrm>
            <a:off x="3760000" y="1150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Repeatable workflow for inspecting and preparing loan application data.</a:t>
            </a:r>
          </a:p>
        </p:txBody>
      </p:sp>
      <p:sp>
        <p:nvSpPr>
          <p:cNvPr id="9" name="Row 2"/>
          <p:cNvSpPr/>
          <p:nvPr/>
        </p:nvSpPr>
        <p:spPr>
          <a:xfrm>
            <a:off x="3000000" y="2128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dge ✓"/>
          <p:cNvSpPr/>
          <p:nvPr/>
        </p:nvSpPr>
        <p:spPr>
          <a:xfrm>
            <a:off x="3160000" y="2337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Row text 2"/>
          <p:cNvSpPr txBox="1"/>
          <p:nvPr/>
        </p:nvSpPr>
        <p:spPr>
          <a:xfrm>
            <a:off x="3760000" y="2128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EDA helps identify missingness, skewed distributions, relationships and potential outliers before modelling.</a:t>
            </a:r>
          </a:p>
        </p:txBody>
      </p:sp>
      <p:sp>
        <p:nvSpPr>
          <p:cNvPr id="12" name="Row 3"/>
          <p:cNvSpPr/>
          <p:nvPr/>
        </p:nvSpPr>
        <p:spPr>
          <a:xfrm>
            <a:off x="3000000" y="3106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dge ✓"/>
          <p:cNvSpPr/>
          <p:nvPr/>
        </p:nvSpPr>
        <p:spPr>
          <a:xfrm>
            <a:off x="3160000" y="3315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Row text 3"/>
          <p:cNvSpPr txBox="1"/>
          <p:nvPr/>
        </p:nvSpPr>
        <p:spPr>
          <a:xfrm>
            <a:off x="3760000" y="3106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Comparing multiple ensemble methods can reveal trade-offs in predictive performance.</a:t>
            </a:r>
          </a:p>
        </p:txBody>
      </p:sp>
      <p:sp>
        <p:nvSpPr>
          <p:cNvPr id="15" name="Row 4"/>
          <p:cNvSpPr/>
          <p:nvPr/>
        </p:nvSpPr>
        <p:spPr>
          <a:xfrm>
            <a:off x="3000000" y="4084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dge ✓"/>
          <p:cNvSpPr/>
          <p:nvPr/>
        </p:nvSpPr>
        <p:spPr>
          <a:xfrm>
            <a:off x="3160000" y="4293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Row text 4"/>
          <p:cNvSpPr txBox="1"/>
          <p:nvPr/>
        </p:nvSpPr>
        <p:spPr>
          <a:xfrm>
            <a:off x="3760000" y="4084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Evaluation metrics provide a more complete picture than accuracy alone, especially if target classes are imbalanced.</a:t>
            </a:r>
          </a:p>
        </p:txBody>
      </p:sp>
      <p:sp>
        <p:nvSpPr>
          <p:cNvPr id="18" name="Row 5"/>
          <p:cNvSpPr/>
          <p:nvPr/>
        </p:nvSpPr>
        <p:spPr>
          <a:xfrm>
            <a:off x="3000000" y="5062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dge ✓"/>
          <p:cNvSpPr/>
          <p:nvPr/>
        </p:nvSpPr>
        <p:spPr>
          <a:xfrm>
            <a:off x="3160000" y="5271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Row text 5"/>
          <p:cNvSpPr txBox="1"/>
          <p:nvPr/>
        </p:nvSpPr>
        <p:spPr>
          <a:xfrm>
            <a:off x="3760000" y="5062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Can support human reviewers by prioritizing applications for further assessment.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Applications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18</a:t>
            </a:r>
          </a:p>
        </p:txBody>
      </p:sp>
      <p:sp>
        <p:nvSpPr>
          <p:cNvPr id="6" name="Card 1"/>
          <p:cNvSpPr/>
          <p:nvPr/>
        </p:nvSpPr>
        <p:spPr>
          <a:xfrm>
            <a:off x="3000000" y="1150000"/>
            <a:ext cx="2746666" cy="2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1"/>
          <p:cNvSpPr/>
          <p:nvPr/>
        </p:nvSpPr>
        <p:spPr>
          <a:xfrm>
            <a:off x="3150000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Card head 1"/>
          <p:cNvSpPr txBox="1"/>
          <p:nvPr/>
        </p:nvSpPr>
        <p:spPr>
          <a:xfrm>
            <a:off x="3570000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BANKS &amp; NBFCS</a:t>
            </a:r>
          </a:p>
        </p:txBody>
      </p:sp>
      <p:sp>
        <p:nvSpPr>
          <p:cNvPr id="9" name="Card body 1"/>
          <p:cNvSpPr txBox="1"/>
          <p:nvPr/>
        </p:nvSpPr>
        <p:spPr>
          <a:xfrm>
            <a:off x="3150000" y="1720000"/>
            <a:ext cx="2446666" cy="21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Decision support for personal, consumer or other retail loan applications.</a:t>
            </a:r>
          </a:p>
        </p:txBody>
      </p:sp>
      <p:sp>
        <p:nvSpPr>
          <p:cNvPr id="10" name="Card 2"/>
          <p:cNvSpPr/>
          <p:nvPr/>
        </p:nvSpPr>
        <p:spPr>
          <a:xfrm>
            <a:off x="5976666" y="1150000"/>
            <a:ext cx="2746666" cy="2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dge 2"/>
          <p:cNvSpPr/>
          <p:nvPr/>
        </p:nvSpPr>
        <p:spPr>
          <a:xfrm>
            <a:off x="6126666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Card head 2"/>
          <p:cNvSpPr txBox="1"/>
          <p:nvPr/>
        </p:nvSpPr>
        <p:spPr>
          <a:xfrm>
            <a:off x="6546666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RISK ANALYTICS</a:t>
            </a:r>
          </a:p>
        </p:txBody>
      </p:sp>
      <p:sp>
        <p:nvSpPr>
          <p:cNvPr id="13" name="Card body 2"/>
          <p:cNvSpPr txBox="1"/>
          <p:nvPr/>
        </p:nvSpPr>
        <p:spPr>
          <a:xfrm>
            <a:off x="6126666" y="1720000"/>
            <a:ext cx="2446666" cy="21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Explore applicant risk patterns and investigate factors associated with historical outcomes.</a:t>
            </a:r>
          </a:p>
        </p:txBody>
      </p:sp>
      <p:sp>
        <p:nvSpPr>
          <p:cNvPr id="14" name="Card 3"/>
          <p:cNvSpPr/>
          <p:nvPr/>
        </p:nvSpPr>
        <p:spPr>
          <a:xfrm>
            <a:off x="8953332" y="1150000"/>
            <a:ext cx="2746666" cy="28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dge 3"/>
          <p:cNvSpPr/>
          <p:nvPr/>
        </p:nvSpPr>
        <p:spPr>
          <a:xfrm>
            <a:off x="9103332" y="1290000"/>
            <a:ext cx="330000" cy="33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Card head 3"/>
          <p:cNvSpPr txBox="1"/>
          <p:nvPr/>
        </p:nvSpPr>
        <p:spPr>
          <a:xfrm>
            <a:off x="9523332" y="1290000"/>
            <a:ext cx="2026666" cy="330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</a:rPr>
              <a:t>OPERATIONS</a:t>
            </a:r>
          </a:p>
        </p:txBody>
      </p:sp>
      <p:sp>
        <p:nvSpPr>
          <p:cNvPr id="17" name="Card body 3"/>
          <p:cNvSpPr txBox="1"/>
          <p:nvPr/>
        </p:nvSpPr>
        <p:spPr>
          <a:xfrm>
            <a:off x="9103332" y="1720000"/>
            <a:ext cx="2446666" cy="213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262626"/>
                </a:solidFill>
              </a:rPr>
              <a:t>Assist triage and prioritize applications for manual review, subject to policy and validation.</a:t>
            </a:r>
          </a:p>
        </p:txBody>
      </p:sp>
      <p:sp>
        <p:nvSpPr>
          <p:cNvPr id="18" name="Note"/>
          <p:cNvSpPr/>
          <p:nvPr/>
        </p:nvSpPr>
        <p:spPr>
          <a:xfrm>
            <a:off x="3000000" y="4250000"/>
            <a:ext cx="8700000" cy="10000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pPr algn="l"/>
            <a:r>
              <a:rPr sz="1800" b="1" i="0">
                <a:solidFill>
                  <a:srgbClr val="C00000"/>
                </a:solidFill>
              </a:rPr>
              <a:t>Any real-world deployment requires privacy safeguards, fairness testing, regulatory review and a human appeal path.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Limitations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19</a:t>
            </a:r>
          </a:p>
        </p:txBody>
      </p:sp>
      <p:sp>
        <p:nvSpPr>
          <p:cNvPr id="6" name="Row 1"/>
          <p:cNvSpPr/>
          <p:nvPr/>
        </p:nvSpPr>
        <p:spPr>
          <a:xfrm>
            <a:off x="3000000" y="1150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!"/>
          <p:cNvSpPr/>
          <p:nvPr/>
        </p:nvSpPr>
        <p:spPr>
          <a:xfrm>
            <a:off x="3160000" y="1359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8" name="Row text 1"/>
          <p:cNvSpPr txBox="1"/>
          <p:nvPr/>
        </p:nvSpPr>
        <p:spPr>
          <a:xfrm>
            <a:off x="3760000" y="1150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The provided notebooks document data understanding and EDA; model-training and evaluation results are not included.</a:t>
            </a:r>
          </a:p>
        </p:txBody>
      </p:sp>
      <p:sp>
        <p:nvSpPr>
          <p:cNvPr id="9" name="Row 2"/>
          <p:cNvSpPr/>
          <p:nvPr/>
        </p:nvSpPr>
        <p:spPr>
          <a:xfrm>
            <a:off x="3000000" y="2128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dge !"/>
          <p:cNvSpPr/>
          <p:nvPr/>
        </p:nvSpPr>
        <p:spPr>
          <a:xfrm>
            <a:off x="3160000" y="2337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1" name="Row text 2"/>
          <p:cNvSpPr txBox="1"/>
          <p:nvPr/>
        </p:nvSpPr>
        <p:spPr>
          <a:xfrm>
            <a:off x="3760000" y="2128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Missing values require a documented, leakage-safe preprocessing strategy.</a:t>
            </a:r>
          </a:p>
        </p:txBody>
      </p:sp>
      <p:sp>
        <p:nvSpPr>
          <p:cNvPr id="12" name="Row 3"/>
          <p:cNvSpPr/>
          <p:nvPr/>
        </p:nvSpPr>
        <p:spPr>
          <a:xfrm>
            <a:off x="3000000" y="3106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dge !"/>
          <p:cNvSpPr/>
          <p:nvPr/>
        </p:nvSpPr>
        <p:spPr>
          <a:xfrm>
            <a:off x="3160000" y="3315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4" name="Row text 3"/>
          <p:cNvSpPr txBox="1"/>
          <p:nvPr/>
        </p:nvSpPr>
        <p:spPr>
          <a:xfrm>
            <a:off x="3760000" y="3106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Historical loan decisions can contain bias and may not represent future applicants.</a:t>
            </a:r>
          </a:p>
        </p:txBody>
      </p:sp>
      <p:sp>
        <p:nvSpPr>
          <p:cNvPr id="15" name="Row 4"/>
          <p:cNvSpPr/>
          <p:nvPr/>
        </p:nvSpPr>
        <p:spPr>
          <a:xfrm>
            <a:off x="3000000" y="4084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dge !"/>
          <p:cNvSpPr/>
          <p:nvPr/>
        </p:nvSpPr>
        <p:spPr>
          <a:xfrm>
            <a:off x="3160000" y="4293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7" name="Row text 4"/>
          <p:cNvSpPr txBox="1"/>
          <p:nvPr/>
        </p:nvSpPr>
        <p:spPr>
          <a:xfrm>
            <a:off x="3760000" y="4084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Accuracy alone may hide poor recall for one class; several metrics and subgroup checks are needed.</a:t>
            </a:r>
          </a:p>
        </p:txBody>
      </p:sp>
      <p:sp>
        <p:nvSpPr>
          <p:cNvPr id="18" name="Row 5"/>
          <p:cNvSpPr/>
          <p:nvPr/>
        </p:nvSpPr>
        <p:spPr>
          <a:xfrm>
            <a:off x="3000000" y="5062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dge !"/>
          <p:cNvSpPr/>
          <p:nvPr/>
        </p:nvSpPr>
        <p:spPr>
          <a:xfrm>
            <a:off x="3160000" y="5271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0" name="Row text 5"/>
          <p:cNvSpPr txBox="1"/>
          <p:nvPr/>
        </p:nvSpPr>
        <p:spPr>
          <a:xfrm>
            <a:off x="3760000" y="5062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Predictions do not explain every decision and must not replace responsible lending review.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Future Scope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20</a:t>
            </a:r>
          </a:p>
        </p:txBody>
      </p:sp>
      <p:sp>
        <p:nvSpPr>
          <p:cNvPr id="6" name="Row 1"/>
          <p:cNvSpPr/>
          <p:nvPr/>
        </p:nvSpPr>
        <p:spPr>
          <a:xfrm>
            <a:off x="3000000" y="1150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 1"/>
          <p:cNvSpPr/>
          <p:nvPr/>
        </p:nvSpPr>
        <p:spPr>
          <a:xfrm>
            <a:off x="3160000" y="1359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w text 1"/>
          <p:cNvSpPr txBox="1"/>
          <p:nvPr/>
        </p:nvSpPr>
        <p:spPr>
          <a:xfrm>
            <a:off x="3760000" y="1150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Complete preprocessing, train/test split and model training for Random Forest, XGBoost and LightGBM.</a:t>
            </a:r>
          </a:p>
        </p:txBody>
      </p:sp>
      <p:sp>
        <p:nvSpPr>
          <p:cNvPr id="9" name="Row 2"/>
          <p:cNvSpPr/>
          <p:nvPr/>
        </p:nvSpPr>
        <p:spPr>
          <a:xfrm>
            <a:off x="3000000" y="2128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dge 2"/>
          <p:cNvSpPr/>
          <p:nvPr/>
        </p:nvSpPr>
        <p:spPr>
          <a:xfrm>
            <a:off x="3160000" y="2337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ow text 2"/>
          <p:cNvSpPr txBox="1"/>
          <p:nvPr/>
        </p:nvSpPr>
        <p:spPr>
          <a:xfrm>
            <a:off x="3760000" y="2128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Use cross-validation and hyperparameter tuning, then compare metrics on a held-out test set.</a:t>
            </a:r>
          </a:p>
        </p:txBody>
      </p:sp>
      <p:sp>
        <p:nvSpPr>
          <p:cNvPr id="12" name="Row 3"/>
          <p:cNvSpPr/>
          <p:nvPr/>
        </p:nvSpPr>
        <p:spPr>
          <a:xfrm>
            <a:off x="3000000" y="3106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dge 3"/>
          <p:cNvSpPr/>
          <p:nvPr/>
        </p:nvSpPr>
        <p:spPr>
          <a:xfrm>
            <a:off x="3160000" y="3315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ow text 3"/>
          <p:cNvSpPr txBox="1"/>
          <p:nvPr/>
        </p:nvSpPr>
        <p:spPr>
          <a:xfrm>
            <a:off x="3760000" y="3106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Add confusion matrices, ROC-AUC/PR-AUC and feature-importance or SHAP explanations.</a:t>
            </a:r>
          </a:p>
        </p:txBody>
      </p:sp>
      <p:sp>
        <p:nvSpPr>
          <p:cNvPr id="15" name="Row 4"/>
          <p:cNvSpPr/>
          <p:nvPr/>
        </p:nvSpPr>
        <p:spPr>
          <a:xfrm>
            <a:off x="3000000" y="4084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dge 4"/>
          <p:cNvSpPr/>
          <p:nvPr/>
        </p:nvSpPr>
        <p:spPr>
          <a:xfrm>
            <a:off x="3160000" y="4293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Row text 4"/>
          <p:cNvSpPr txBox="1"/>
          <p:nvPr/>
        </p:nvSpPr>
        <p:spPr>
          <a:xfrm>
            <a:off x="3760000" y="4084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Perform fairness and subgroup analysis; document privacy and governance controls.</a:t>
            </a:r>
          </a:p>
        </p:txBody>
      </p:sp>
      <p:sp>
        <p:nvSpPr>
          <p:cNvPr id="18" name="Row 5"/>
          <p:cNvSpPr/>
          <p:nvPr/>
        </p:nvSpPr>
        <p:spPr>
          <a:xfrm>
            <a:off x="3000000" y="5062000"/>
            <a:ext cx="8700000" cy="83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dge 5"/>
          <p:cNvSpPr/>
          <p:nvPr/>
        </p:nvSpPr>
        <p:spPr>
          <a:xfrm>
            <a:off x="3160000" y="5271000"/>
            <a:ext cx="420000" cy="4200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Row text 5"/>
          <p:cNvSpPr txBox="1"/>
          <p:nvPr/>
        </p:nvSpPr>
        <p:spPr>
          <a:xfrm>
            <a:off x="3760000" y="5062000"/>
            <a:ext cx="7760000" cy="8380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262626"/>
                </a:solidFill>
              </a:rPr>
              <a:t>Build a simple Streamlit interface and version the trained model for a controlled demo.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Pill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Conclusion &amp; References</a:t>
            </a:r>
            <a:endParaRPr lang="en-US"/>
          </a:p>
        </p:txBody>
      </p:sp>
      <p:sp>
        <p:nvSpPr>
          <p:cNvPr id="4" name="Footer"/>
          <p:cNvSpPr txBox="1"/>
          <p:nvPr/>
        </p:nvSpPr>
        <p:spPr>
          <a:xfrm>
            <a:off x="3000000" y="6420000"/>
            <a:ext cx="60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LOAN APPROVAL PREDICTION • ENSEMBLE LEARNING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0900000" y="6420000"/>
            <a:ext cx="800000" cy="26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</a:rPr>
              <a:t>21</a:t>
            </a:r>
          </a:p>
        </p:txBody>
      </p:sp>
      <p:sp>
        <p:nvSpPr>
          <p:cNvPr id="6" name="Conclusion panel"/>
          <p:cNvSpPr/>
          <p:nvPr/>
        </p:nvSpPr>
        <p:spPr>
          <a:xfrm>
            <a:off x="3000000" y="1150000"/>
            <a:ext cx="4235000" cy="3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clusion head"/>
          <p:cNvSpPr txBox="1"/>
          <p:nvPr/>
        </p:nvSpPr>
        <p:spPr>
          <a:xfrm>
            <a:off x="3180000" y="1300000"/>
            <a:ext cx="3875000" cy="35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8" name="Conclusion text"/>
          <p:cNvSpPr txBox="1"/>
          <p:nvPr/>
        </p:nvSpPr>
        <p:spPr>
          <a:xfrm>
            <a:off x="3180000" y="1750000"/>
            <a:ext cx="3875000" cy="32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</a:rPr>
              <a:t>The project establishes a data-understanding and EDA foundation for loan approval prediction using a 20,000-record dataset. The next stage is to train and fairly evaluate the three proposed ensemble models.</a:t>
            </a:r>
          </a:p>
        </p:txBody>
      </p:sp>
      <p:sp>
        <p:nvSpPr>
          <p:cNvPr id="9" name="References panel"/>
          <p:cNvSpPr/>
          <p:nvPr/>
        </p:nvSpPr>
        <p:spPr>
          <a:xfrm>
            <a:off x="7465000" y="1150000"/>
            <a:ext cx="4235000" cy="3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ferences head"/>
          <p:cNvSpPr txBox="1"/>
          <p:nvPr/>
        </p:nvSpPr>
        <p:spPr>
          <a:xfrm>
            <a:off x="7645000" y="1300000"/>
            <a:ext cx="3875000" cy="35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</a:rPr>
              <a:t>REFERENCES / TOOLS</a:t>
            </a:r>
          </a:p>
        </p:txBody>
      </p:sp>
      <p:sp>
        <p:nvSpPr>
          <p:cNvPr id="11" name="References list"/>
          <p:cNvSpPr txBox="1"/>
          <p:nvPr/>
        </p:nvSpPr>
        <p:spPr>
          <a:xfrm>
            <a:off x="7645000" y="1750000"/>
            <a:ext cx="3875000" cy="3200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26"/>
                </a:solidFill>
              </a:rPr>
              <a:t>•  Supplied files: ML Abstract.pdf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26"/>
                </a:solidFill>
              </a:rPr>
              <a:t>•  Experiment1_ML_Corrected.ipynb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26"/>
                </a:solidFill>
              </a:rPr>
              <a:t>•  experiment2_ML_Corrected.ipynb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26"/>
                </a:solidFill>
              </a:rPr>
              <a:t>•  Pandas and NumPy documentation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26"/>
                </a:solidFill>
              </a:rPr>
              <a:t>•  scikit-learn documentation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26"/>
                </a:solidFill>
              </a:rPr>
              <a:t>•  XGBoost documentation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262626"/>
                </a:solidFill>
              </a:rPr>
              <a:t>•  LightGBM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      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sreekar rao</cp:lastModifiedBy>
  <cp:revision>20</cp:revision>
  <dcterms:created xsi:type="dcterms:W3CDTF">2024-08-29T05:25:00Z</dcterms:created>
  <dcterms:modified xsi:type="dcterms:W3CDTF">2026-10-13T16:59:39Z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